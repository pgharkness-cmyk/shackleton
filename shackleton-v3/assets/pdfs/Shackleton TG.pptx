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67" r:id="rId3"/>
    <p:sldId id="257" r:id="rId4"/>
    <p:sldId id="261" r:id="rId5"/>
    <p:sldId id="262" r:id="rId6"/>
    <p:sldId id="263" r:id="rId7"/>
    <p:sldId id="264" r:id="rId8"/>
    <p:sldId id="265" r:id="rId9"/>
    <p:sldId id="266" r:id="rId10"/>
    <p:sldId id="268"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00000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varScale="1">
        <p:scale>
          <a:sx n="101" d="100"/>
          <a:sy n="101" d="100"/>
        </p:scale>
        <p:origin x="876"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C4CB9B-2D27-4FC6-9129-9A7BC3418277}" type="datetimeFigureOut">
              <a:rPr lang="en-GB" smtClean="0"/>
              <a:t>10/06/2026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B2459F-7792-4BCD-8455-41514145D215}" type="slidenum">
              <a:rPr lang="en-GB" smtClean="0"/>
              <a:t>‹#›</a:t>
            </a:fld>
            <a:endParaRPr lang="en-GB"/>
          </a:p>
        </p:txBody>
      </p:sp>
    </p:spTree>
    <p:extLst>
      <p:ext uri="{BB962C8B-B14F-4D97-AF65-F5344CB8AC3E}">
        <p14:creationId xmlns:p14="http://schemas.microsoft.com/office/powerpoint/2010/main" val="37346654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F6B2459F-7792-4BCD-8455-41514145D215}" type="slidenum">
              <a:rPr lang="en-GB" smtClean="0"/>
              <a:t>1</a:t>
            </a:fld>
            <a:endParaRPr lang="en-GB"/>
          </a:p>
        </p:txBody>
      </p:sp>
    </p:spTree>
    <p:extLst>
      <p:ext uri="{BB962C8B-B14F-4D97-AF65-F5344CB8AC3E}">
        <p14:creationId xmlns:p14="http://schemas.microsoft.com/office/powerpoint/2010/main" val="12097326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F6B2459F-7792-4BCD-8455-41514145D215}" type="slidenum">
              <a:rPr lang="en-GB" smtClean="0"/>
              <a:t>2</a:t>
            </a:fld>
            <a:endParaRPr lang="en-GB"/>
          </a:p>
        </p:txBody>
      </p:sp>
    </p:spTree>
    <p:extLst>
      <p:ext uri="{BB962C8B-B14F-4D97-AF65-F5344CB8AC3E}">
        <p14:creationId xmlns:p14="http://schemas.microsoft.com/office/powerpoint/2010/main" val="28354614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F6B2459F-7792-4BCD-8455-41514145D215}" type="slidenum">
              <a:rPr lang="en-GB" smtClean="0"/>
              <a:t>3</a:t>
            </a:fld>
            <a:endParaRPr lang="en-GB"/>
          </a:p>
        </p:txBody>
      </p:sp>
    </p:spTree>
    <p:extLst>
      <p:ext uri="{BB962C8B-B14F-4D97-AF65-F5344CB8AC3E}">
        <p14:creationId xmlns:p14="http://schemas.microsoft.com/office/powerpoint/2010/main" val="26136003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6B2459F-7792-4BCD-8455-41514145D215}" type="slidenum">
              <a:rPr lang="en-GB" smtClean="0"/>
              <a:t>4</a:t>
            </a:fld>
            <a:endParaRPr lang="en-GB"/>
          </a:p>
        </p:txBody>
      </p:sp>
    </p:spTree>
    <p:extLst>
      <p:ext uri="{BB962C8B-B14F-4D97-AF65-F5344CB8AC3E}">
        <p14:creationId xmlns:p14="http://schemas.microsoft.com/office/powerpoint/2010/main" val="29628434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9B1114-8745-32B0-4E85-CB6BCE74FD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D0D0E7-747B-3027-A6E2-A1E4B4297C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87F723-4121-85D6-CB85-4D3C75F7C199}"/>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8476E33-5E61-D3C1-F63B-E5F857E6C571}"/>
              </a:ext>
            </a:extLst>
          </p:cNvPr>
          <p:cNvSpPr>
            <a:spLocks noGrp="1"/>
          </p:cNvSpPr>
          <p:nvPr>
            <p:ph type="sldNum" sz="quarter" idx="5"/>
          </p:nvPr>
        </p:nvSpPr>
        <p:spPr/>
        <p:txBody>
          <a:bodyPr/>
          <a:lstStyle/>
          <a:p>
            <a:fld id="{F6B2459F-7792-4BCD-8455-41514145D215}" type="slidenum">
              <a:rPr lang="en-GB" smtClean="0"/>
              <a:t>5</a:t>
            </a:fld>
            <a:endParaRPr lang="en-GB"/>
          </a:p>
        </p:txBody>
      </p:sp>
    </p:spTree>
    <p:extLst>
      <p:ext uri="{BB962C8B-B14F-4D97-AF65-F5344CB8AC3E}">
        <p14:creationId xmlns:p14="http://schemas.microsoft.com/office/powerpoint/2010/main" val="13260920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20B1D-7527-6A9C-2758-1F8D409AF2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6C36EC-E218-9782-62D7-50DC65701C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50E182-9001-5B9A-8010-A0C981A7B16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C4B93FB-851D-06DF-A737-A172D4CE429C}"/>
              </a:ext>
            </a:extLst>
          </p:cNvPr>
          <p:cNvSpPr>
            <a:spLocks noGrp="1"/>
          </p:cNvSpPr>
          <p:nvPr>
            <p:ph type="sldNum" sz="quarter" idx="5"/>
          </p:nvPr>
        </p:nvSpPr>
        <p:spPr/>
        <p:txBody>
          <a:bodyPr/>
          <a:lstStyle/>
          <a:p>
            <a:fld id="{F6B2459F-7792-4BCD-8455-41514145D215}" type="slidenum">
              <a:rPr lang="en-GB" smtClean="0"/>
              <a:t>6</a:t>
            </a:fld>
            <a:endParaRPr lang="en-GB"/>
          </a:p>
        </p:txBody>
      </p:sp>
    </p:spTree>
    <p:extLst>
      <p:ext uri="{BB962C8B-B14F-4D97-AF65-F5344CB8AC3E}">
        <p14:creationId xmlns:p14="http://schemas.microsoft.com/office/powerpoint/2010/main" val="37861957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4F744-EDB1-3BB0-B1D5-35F9227837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D191D4-4528-3B9B-B51F-BC195D1BA4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ABF8CB-7499-BE34-0FC3-51AE4E34A9A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8101C53-C747-E34D-5706-1321154FE438}"/>
              </a:ext>
            </a:extLst>
          </p:cNvPr>
          <p:cNvSpPr>
            <a:spLocks noGrp="1"/>
          </p:cNvSpPr>
          <p:nvPr>
            <p:ph type="sldNum" sz="quarter" idx="5"/>
          </p:nvPr>
        </p:nvSpPr>
        <p:spPr/>
        <p:txBody>
          <a:bodyPr/>
          <a:lstStyle/>
          <a:p>
            <a:fld id="{F6B2459F-7792-4BCD-8455-41514145D215}" type="slidenum">
              <a:rPr lang="en-GB" smtClean="0"/>
              <a:t>7</a:t>
            </a:fld>
            <a:endParaRPr lang="en-GB"/>
          </a:p>
        </p:txBody>
      </p:sp>
    </p:spTree>
    <p:extLst>
      <p:ext uri="{BB962C8B-B14F-4D97-AF65-F5344CB8AC3E}">
        <p14:creationId xmlns:p14="http://schemas.microsoft.com/office/powerpoint/2010/main" val="35482361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BD774-5560-78A4-BDD2-5D4C1D1E5C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BAE745-45D2-536B-55AD-9B59DB4119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0F7280-726B-0DE1-8751-724472347EC1}"/>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85DC508-590C-6F3C-459E-4D001017B4F7}"/>
              </a:ext>
            </a:extLst>
          </p:cNvPr>
          <p:cNvSpPr>
            <a:spLocks noGrp="1"/>
          </p:cNvSpPr>
          <p:nvPr>
            <p:ph type="sldNum" sz="quarter" idx="5"/>
          </p:nvPr>
        </p:nvSpPr>
        <p:spPr/>
        <p:txBody>
          <a:bodyPr/>
          <a:lstStyle/>
          <a:p>
            <a:fld id="{F6B2459F-7792-4BCD-8455-41514145D215}" type="slidenum">
              <a:rPr lang="en-GB" smtClean="0"/>
              <a:t>8</a:t>
            </a:fld>
            <a:endParaRPr lang="en-GB"/>
          </a:p>
        </p:txBody>
      </p:sp>
    </p:spTree>
    <p:extLst>
      <p:ext uri="{BB962C8B-B14F-4D97-AF65-F5344CB8AC3E}">
        <p14:creationId xmlns:p14="http://schemas.microsoft.com/office/powerpoint/2010/main" val="18936319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75913-70C8-F393-9017-77A8D0A923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B0DF99-FA41-A2FB-70DC-54D7A386F7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D1CD1A-8C70-B3F7-8E7A-3682EA20ABF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C3AE611B-30DD-8C35-5539-81C3D1654C72}"/>
              </a:ext>
            </a:extLst>
          </p:cNvPr>
          <p:cNvSpPr>
            <a:spLocks noGrp="1"/>
          </p:cNvSpPr>
          <p:nvPr>
            <p:ph type="sldNum" sz="quarter" idx="5"/>
          </p:nvPr>
        </p:nvSpPr>
        <p:spPr/>
        <p:txBody>
          <a:bodyPr/>
          <a:lstStyle/>
          <a:p>
            <a:fld id="{F6B2459F-7792-4BCD-8455-41514145D215}" type="slidenum">
              <a:rPr lang="en-GB" smtClean="0"/>
              <a:t>9</a:t>
            </a:fld>
            <a:endParaRPr lang="en-GB"/>
          </a:p>
        </p:txBody>
      </p:sp>
    </p:spTree>
    <p:extLst>
      <p:ext uri="{BB962C8B-B14F-4D97-AF65-F5344CB8AC3E}">
        <p14:creationId xmlns:p14="http://schemas.microsoft.com/office/powerpoint/2010/main" val="39093787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26EC7-E8A3-9B6B-AA47-EC7E6136DB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6AE7E8-866B-95F0-A8A1-3D566FC6D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BF104F-F4B8-83A0-6008-3407A50E0FD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E6FAC736-BE19-37F2-6C8D-259BBEC54233}"/>
              </a:ext>
            </a:extLst>
          </p:cNvPr>
          <p:cNvSpPr>
            <a:spLocks noGrp="1"/>
          </p:cNvSpPr>
          <p:nvPr>
            <p:ph type="sldNum" sz="quarter" idx="5"/>
          </p:nvPr>
        </p:nvSpPr>
        <p:spPr/>
        <p:txBody>
          <a:bodyPr/>
          <a:lstStyle/>
          <a:p>
            <a:fld id="{F6B2459F-7792-4BCD-8455-41514145D215}" type="slidenum">
              <a:rPr lang="en-GB" smtClean="0"/>
              <a:t>10</a:t>
            </a:fld>
            <a:endParaRPr lang="en-GB"/>
          </a:p>
        </p:txBody>
      </p:sp>
    </p:spTree>
    <p:extLst>
      <p:ext uri="{BB962C8B-B14F-4D97-AF65-F5344CB8AC3E}">
        <p14:creationId xmlns:p14="http://schemas.microsoft.com/office/powerpoint/2010/main" val="22504220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CCE87-5E5F-3C99-87C5-10D3695C88D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4A8CC12A-8E4D-2A03-9699-63448E6DD10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552CCA45-D85B-8DCF-2C20-FDF3BF85BC75}"/>
              </a:ext>
            </a:extLst>
          </p:cNvPr>
          <p:cNvSpPr>
            <a:spLocks noGrp="1"/>
          </p:cNvSpPr>
          <p:nvPr>
            <p:ph type="dt" sz="half" idx="10"/>
          </p:nvPr>
        </p:nvSpPr>
        <p:spPr/>
        <p:txBody>
          <a:bodyPr/>
          <a:lstStyle/>
          <a:p>
            <a:fld id="{FFCFFA18-7767-49C7-B0DF-6D9CE3017E60}" type="datetimeFigureOut">
              <a:rPr lang="en-GB" smtClean="0"/>
              <a:t>10/06/2026</a:t>
            </a:fld>
            <a:endParaRPr lang="en-GB"/>
          </a:p>
        </p:txBody>
      </p:sp>
      <p:sp>
        <p:nvSpPr>
          <p:cNvPr id="5" name="Footer Placeholder 4">
            <a:extLst>
              <a:ext uri="{FF2B5EF4-FFF2-40B4-BE49-F238E27FC236}">
                <a16:creationId xmlns:a16="http://schemas.microsoft.com/office/drawing/2014/main" id="{5AC8C2C9-A29D-ABBF-9D02-917897534A7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8D15E3B-E4E7-785F-8FD2-C1B960F54A48}"/>
              </a:ext>
            </a:extLst>
          </p:cNvPr>
          <p:cNvSpPr>
            <a:spLocks noGrp="1"/>
          </p:cNvSpPr>
          <p:nvPr>
            <p:ph type="sldNum" sz="quarter" idx="12"/>
          </p:nvPr>
        </p:nvSpPr>
        <p:spPr/>
        <p:txBody>
          <a:bodyPr/>
          <a:lstStyle/>
          <a:p>
            <a:fld id="{A076365C-CE9B-4F7B-89A5-B99B63FF919B}" type="slidenum">
              <a:rPr lang="en-GB" smtClean="0"/>
              <a:t>‹#›</a:t>
            </a:fld>
            <a:endParaRPr lang="en-GB"/>
          </a:p>
        </p:txBody>
      </p:sp>
    </p:spTree>
    <p:extLst>
      <p:ext uri="{BB962C8B-B14F-4D97-AF65-F5344CB8AC3E}">
        <p14:creationId xmlns:p14="http://schemas.microsoft.com/office/powerpoint/2010/main" val="29406312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9F506-B0E4-A6BE-C3D3-5AA31AF3E79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A54FDA9-96DB-87B5-689D-ADEB2270DE7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B1974EC-FA53-6700-33F8-F3F184C8CE8E}"/>
              </a:ext>
            </a:extLst>
          </p:cNvPr>
          <p:cNvSpPr>
            <a:spLocks noGrp="1"/>
          </p:cNvSpPr>
          <p:nvPr>
            <p:ph type="dt" sz="half" idx="10"/>
          </p:nvPr>
        </p:nvSpPr>
        <p:spPr/>
        <p:txBody>
          <a:bodyPr/>
          <a:lstStyle/>
          <a:p>
            <a:fld id="{FFCFFA18-7767-49C7-B0DF-6D9CE3017E60}" type="datetimeFigureOut">
              <a:rPr lang="en-GB" smtClean="0"/>
              <a:t>10/06/2026</a:t>
            </a:fld>
            <a:endParaRPr lang="en-GB"/>
          </a:p>
        </p:txBody>
      </p:sp>
      <p:sp>
        <p:nvSpPr>
          <p:cNvPr id="5" name="Footer Placeholder 4">
            <a:extLst>
              <a:ext uri="{FF2B5EF4-FFF2-40B4-BE49-F238E27FC236}">
                <a16:creationId xmlns:a16="http://schemas.microsoft.com/office/drawing/2014/main" id="{E9E423EF-5D10-100B-DD6B-DD80DA7B863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460CEE4-4DE4-F024-6AD0-8EA0F00AFFCF}"/>
              </a:ext>
            </a:extLst>
          </p:cNvPr>
          <p:cNvSpPr>
            <a:spLocks noGrp="1"/>
          </p:cNvSpPr>
          <p:nvPr>
            <p:ph type="sldNum" sz="quarter" idx="12"/>
          </p:nvPr>
        </p:nvSpPr>
        <p:spPr/>
        <p:txBody>
          <a:bodyPr/>
          <a:lstStyle/>
          <a:p>
            <a:fld id="{A076365C-CE9B-4F7B-89A5-B99B63FF919B}" type="slidenum">
              <a:rPr lang="en-GB" smtClean="0"/>
              <a:t>‹#›</a:t>
            </a:fld>
            <a:endParaRPr lang="en-GB"/>
          </a:p>
        </p:txBody>
      </p:sp>
    </p:spTree>
    <p:extLst>
      <p:ext uri="{BB962C8B-B14F-4D97-AF65-F5344CB8AC3E}">
        <p14:creationId xmlns:p14="http://schemas.microsoft.com/office/powerpoint/2010/main" val="28291165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89622-DF5B-D9F8-70A0-B9ACDE4D5CB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CB93A46B-6B91-8BA2-E77C-D7B907CBDC9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44E00B4-F313-730F-AF94-E5819807F280}"/>
              </a:ext>
            </a:extLst>
          </p:cNvPr>
          <p:cNvSpPr>
            <a:spLocks noGrp="1"/>
          </p:cNvSpPr>
          <p:nvPr>
            <p:ph type="dt" sz="half" idx="10"/>
          </p:nvPr>
        </p:nvSpPr>
        <p:spPr/>
        <p:txBody>
          <a:bodyPr/>
          <a:lstStyle/>
          <a:p>
            <a:fld id="{FFCFFA18-7767-49C7-B0DF-6D9CE3017E60}" type="datetimeFigureOut">
              <a:rPr lang="en-GB" smtClean="0"/>
              <a:t>10/06/2026</a:t>
            </a:fld>
            <a:endParaRPr lang="en-GB"/>
          </a:p>
        </p:txBody>
      </p:sp>
      <p:sp>
        <p:nvSpPr>
          <p:cNvPr id="5" name="Footer Placeholder 4">
            <a:extLst>
              <a:ext uri="{FF2B5EF4-FFF2-40B4-BE49-F238E27FC236}">
                <a16:creationId xmlns:a16="http://schemas.microsoft.com/office/drawing/2014/main" id="{71BB35AB-181C-AD55-D797-3E4B775C061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2C10B9-53C4-6085-EEC5-6F02385738CD}"/>
              </a:ext>
            </a:extLst>
          </p:cNvPr>
          <p:cNvSpPr>
            <a:spLocks noGrp="1"/>
          </p:cNvSpPr>
          <p:nvPr>
            <p:ph type="sldNum" sz="quarter" idx="12"/>
          </p:nvPr>
        </p:nvSpPr>
        <p:spPr/>
        <p:txBody>
          <a:bodyPr/>
          <a:lstStyle/>
          <a:p>
            <a:fld id="{A076365C-CE9B-4F7B-89A5-B99B63FF919B}" type="slidenum">
              <a:rPr lang="en-GB" smtClean="0"/>
              <a:t>‹#›</a:t>
            </a:fld>
            <a:endParaRPr lang="en-GB"/>
          </a:p>
        </p:txBody>
      </p:sp>
    </p:spTree>
    <p:extLst>
      <p:ext uri="{BB962C8B-B14F-4D97-AF65-F5344CB8AC3E}">
        <p14:creationId xmlns:p14="http://schemas.microsoft.com/office/powerpoint/2010/main" val="17975303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7AAE8-4D08-90C3-1032-5A8A8566FBC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8DF7970-C732-AFAF-63D4-24C28C4B7AA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59A4BBEE-ED0B-3DBB-E015-760278E92E1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AD184285-45C4-05F9-95BB-EA6C1AEBDA5D}"/>
              </a:ext>
            </a:extLst>
          </p:cNvPr>
          <p:cNvSpPr>
            <a:spLocks noGrp="1"/>
          </p:cNvSpPr>
          <p:nvPr>
            <p:ph type="dt" sz="half" idx="10"/>
          </p:nvPr>
        </p:nvSpPr>
        <p:spPr/>
        <p:txBody>
          <a:bodyPr/>
          <a:lstStyle/>
          <a:p>
            <a:fld id="{FFCFFA18-7767-49C7-B0DF-6D9CE3017E60}" type="datetimeFigureOut">
              <a:rPr lang="en-GB" smtClean="0"/>
              <a:t>10/06/2026</a:t>
            </a:fld>
            <a:endParaRPr lang="en-GB"/>
          </a:p>
        </p:txBody>
      </p:sp>
      <p:sp>
        <p:nvSpPr>
          <p:cNvPr id="6" name="Footer Placeholder 5">
            <a:extLst>
              <a:ext uri="{FF2B5EF4-FFF2-40B4-BE49-F238E27FC236}">
                <a16:creationId xmlns:a16="http://schemas.microsoft.com/office/drawing/2014/main" id="{2FBA5861-0549-6F31-E672-44AD2F16DF7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4AD02E6-9EDD-A7BB-E018-3678950479BF}"/>
              </a:ext>
            </a:extLst>
          </p:cNvPr>
          <p:cNvSpPr>
            <a:spLocks noGrp="1"/>
          </p:cNvSpPr>
          <p:nvPr>
            <p:ph type="sldNum" sz="quarter" idx="12"/>
          </p:nvPr>
        </p:nvSpPr>
        <p:spPr/>
        <p:txBody>
          <a:bodyPr/>
          <a:lstStyle/>
          <a:p>
            <a:fld id="{A076365C-CE9B-4F7B-89A5-B99B63FF919B}" type="slidenum">
              <a:rPr lang="en-GB" smtClean="0"/>
              <a:t>‹#›</a:t>
            </a:fld>
            <a:endParaRPr lang="en-GB"/>
          </a:p>
        </p:txBody>
      </p:sp>
    </p:spTree>
    <p:extLst>
      <p:ext uri="{BB962C8B-B14F-4D97-AF65-F5344CB8AC3E}">
        <p14:creationId xmlns:p14="http://schemas.microsoft.com/office/powerpoint/2010/main" val="38862453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FFD5B-BDDE-34B7-2E64-8C68EA1CC96E}"/>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D8F01E3-83F2-7C26-A732-CE4B2A16905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62722C0-455B-1F8D-4CA9-68F38CDB8F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CEFCDEE9-CB3D-CE28-25A3-000D998712D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69C2EB4-F4B8-B7EB-C27F-F24AFC5744D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DEFDF6AF-44D8-65B2-B38C-A496901F85C7}"/>
              </a:ext>
            </a:extLst>
          </p:cNvPr>
          <p:cNvSpPr>
            <a:spLocks noGrp="1"/>
          </p:cNvSpPr>
          <p:nvPr>
            <p:ph type="dt" sz="half" idx="10"/>
          </p:nvPr>
        </p:nvSpPr>
        <p:spPr/>
        <p:txBody>
          <a:bodyPr/>
          <a:lstStyle/>
          <a:p>
            <a:fld id="{FFCFFA18-7767-49C7-B0DF-6D9CE3017E60}" type="datetimeFigureOut">
              <a:rPr lang="en-GB" smtClean="0"/>
              <a:t>10/06/2026</a:t>
            </a:fld>
            <a:endParaRPr lang="en-GB"/>
          </a:p>
        </p:txBody>
      </p:sp>
      <p:sp>
        <p:nvSpPr>
          <p:cNvPr id="8" name="Footer Placeholder 7">
            <a:extLst>
              <a:ext uri="{FF2B5EF4-FFF2-40B4-BE49-F238E27FC236}">
                <a16:creationId xmlns:a16="http://schemas.microsoft.com/office/drawing/2014/main" id="{D0779172-D309-2DCC-6877-66CE6D73ED33}"/>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E1566189-4ADA-5ADB-A382-E022466A9C85}"/>
              </a:ext>
            </a:extLst>
          </p:cNvPr>
          <p:cNvSpPr>
            <a:spLocks noGrp="1"/>
          </p:cNvSpPr>
          <p:nvPr>
            <p:ph type="sldNum" sz="quarter" idx="12"/>
          </p:nvPr>
        </p:nvSpPr>
        <p:spPr/>
        <p:txBody>
          <a:bodyPr/>
          <a:lstStyle/>
          <a:p>
            <a:fld id="{A076365C-CE9B-4F7B-89A5-B99B63FF919B}" type="slidenum">
              <a:rPr lang="en-GB" smtClean="0"/>
              <a:t>‹#›</a:t>
            </a:fld>
            <a:endParaRPr lang="en-GB"/>
          </a:p>
        </p:txBody>
      </p:sp>
    </p:spTree>
    <p:extLst>
      <p:ext uri="{BB962C8B-B14F-4D97-AF65-F5344CB8AC3E}">
        <p14:creationId xmlns:p14="http://schemas.microsoft.com/office/powerpoint/2010/main" val="5598625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429EA-2295-29B3-9508-56AB0EF3A1CB}"/>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1EF65BDB-F35B-D0F6-560A-51A4E213CDC7}"/>
              </a:ext>
            </a:extLst>
          </p:cNvPr>
          <p:cNvSpPr>
            <a:spLocks noGrp="1"/>
          </p:cNvSpPr>
          <p:nvPr>
            <p:ph type="dt" sz="half" idx="10"/>
          </p:nvPr>
        </p:nvSpPr>
        <p:spPr/>
        <p:txBody>
          <a:bodyPr/>
          <a:lstStyle/>
          <a:p>
            <a:fld id="{FFCFFA18-7767-49C7-B0DF-6D9CE3017E60}" type="datetimeFigureOut">
              <a:rPr lang="en-GB" smtClean="0"/>
              <a:t>10/06/2026</a:t>
            </a:fld>
            <a:endParaRPr lang="en-GB"/>
          </a:p>
        </p:txBody>
      </p:sp>
      <p:sp>
        <p:nvSpPr>
          <p:cNvPr id="4" name="Footer Placeholder 3">
            <a:extLst>
              <a:ext uri="{FF2B5EF4-FFF2-40B4-BE49-F238E27FC236}">
                <a16:creationId xmlns:a16="http://schemas.microsoft.com/office/drawing/2014/main" id="{EB0530F9-B964-6A48-591B-72B6C6DD113A}"/>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818D7D38-622E-C283-4B00-95E72AF40A22}"/>
              </a:ext>
            </a:extLst>
          </p:cNvPr>
          <p:cNvSpPr>
            <a:spLocks noGrp="1"/>
          </p:cNvSpPr>
          <p:nvPr>
            <p:ph type="sldNum" sz="quarter" idx="12"/>
          </p:nvPr>
        </p:nvSpPr>
        <p:spPr/>
        <p:txBody>
          <a:bodyPr/>
          <a:lstStyle/>
          <a:p>
            <a:fld id="{A076365C-CE9B-4F7B-89A5-B99B63FF919B}" type="slidenum">
              <a:rPr lang="en-GB" smtClean="0"/>
              <a:t>‹#›</a:t>
            </a:fld>
            <a:endParaRPr lang="en-GB"/>
          </a:p>
        </p:txBody>
      </p:sp>
    </p:spTree>
    <p:extLst>
      <p:ext uri="{BB962C8B-B14F-4D97-AF65-F5344CB8AC3E}">
        <p14:creationId xmlns:p14="http://schemas.microsoft.com/office/powerpoint/2010/main" val="2017343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DB9EC4-1F51-FA32-46E7-950A4D6CB6CF}"/>
              </a:ext>
            </a:extLst>
          </p:cNvPr>
          <p:cNvSpPr>
            <a:spLocks noGrp="1"/>
          </p:cNvSpPr>
          <p:nvPr>
            <p:ph type="dt" sz="half" idx="10"/>
          </p:nvPr>
        </p:nvSpPr>
        <p:spPr/>
        <p:txBody>
          <a:bodyPr/>
          <a:lstStyle/>
          <a:p>
            <a:fld id="{FFCFFA18-7767-49C7-B0DF-6D9CE3017E60}" type="datetimeFigureOut">
              <a:rPr lang="en-GB" smtClean="0"/>
              <a:t>10/06/2026</a:t>
            </a:fld>
            <a:endParaRPr lang="en-GB"/>
          </a:p>
        </p:txBody>
      </p:sp>
      <p:sp>
        <p:nvSpPr>
          <p:cNvPr id="3" name="Footer Placeholder 2">
            <a:extLst>
              <a:ext uri="{FF2B5EF4-FFF2-40B4-BE49-F238E27FC236}">
                <a16:creationId xmlns:a16="http://schemas.microsoft.com/office/drawing/2014/main" id="{8E7ABDDE-B5D1-22E3-5A08-4C00DEFEC1B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CE66B77-8F33-E063-4AB3-5AAC688BC593}"/>
              </a:ext>
            </a:extLst>
          </p:cNvPr>
          <p:cNvSpPr>
            <a:spLocks noGrp="1"/>
          </p:cNvSpPr>
          <p:nvPr>
            <p:ph type="sldNum" sz="quarter" idx="12"/>
          </p:nvPr>
        </p:nvSpPr>
        <p:spPr/>
        <p:txBody>
          <a:bodyPr/>
          <a:lstStyle/>
          <a:p>
            <a:fld id="{A076365C-CE9B-4F7B-89A5-B99B63FF919B}" type="slidenum">
              <a:rPr lang="en-GB" smtClean="0"/>
              <a:t>‹#›</a:t>
            </a:fld>
            <a:endParaRPr lang="en-GB"/>
          </a:p>
        </p:txBody>
      </p:sp>
    </p:spTree>
    <p:extLst>
      <p:ext uri="{BB962C8B-B14F-4D97-AF65-F5344CB8AC3E}">
        <p14:creationId xmlns:p14="http://schemas.microsoft.com/office/powerpoint/2010/main" val="23910704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7BB1C-6A36-DE3B-03ED-3FD599D4DB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3B234647-ECC6-CF51-648E-DA44A598E4B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1C18EDE4-DA6C-EFF5-924E-388911B923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8EDBCA4-500C-F701-2709-4168A90E00B1}"/>
              </a:ext>
            </a:extLst>
          </p:cNvPr>
          <p:cNvSpPr>
            <a:spLocks noGrp="1"/>
          </p:cNvSpPr>
          <p:nvPr>
            <p:ph type="dt" sz="half" idx="10"/>
          </p:nvPr>
        </p:nvSpPr>
        <p:spPr/>
        <p:txBody>
          <a:bodyPr/>
          <a:lstStyle/>
          <a:p>
            <a:fld id="{FFCFFA18-7767-49C7-B0DF-6D9CE3017E60}" type="datetimeFigureOut">
              <a:rPr lang="en-GB" smtClean="0"/>
              <a:t>10/06/2026</a:t>
            </a:fld>
            <a:endParaRPr lang="en-GB"/>
          </a:p>
        </p:txBody>
      </p:sp>
      <p:sp>
        <p:nvSpPr>
          <p:cNvPr id="6" name="Footer Placeholder 5">
            <a:extLst>
              <a:ext uri="{FF2B5EF4-FFF2-40B4-BE49-F238E27FC236}">
                <a16:creationId xmlns:a16="http://schemas.microsoft.com/office/drawing/2014/main" id="{6ABEAEA5-AEA4-9A91-9738-6A6E7863312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F569BAF-8BF1-3BCE-3B82-1AEDE14CC567}"/>
              </a:ext>
            </a:extLst>
          </p:cNvPr>
          <p:cNvSpPr>
            <a:spLocks noGrp="1"/>
          </p:cNvSpPr>
          <p:nvPr>
            <p:ph type="sldNum" sz="quarter" idx="12"/>
          </p:nvPr>
        </p:nvSpPr>
        <p:spPr/>
        <p:txBody>
          <a:bodyPr/>
          <a:lstStyle/>
          <a:p>
            <a:fld id="{A076365C-CE9B-4F7B-89A5-B99B63FF919B}" type="slidenum">
              <a:rPr lang="en-GB" smtClean="0"/>
              <a:t>‹#›</a:t>
            </a:fld>
            <a:endParaRPr lang="en-GB"/>
          </a:p>
        </p:txBody>
      </p:sp>
    </p:spTree>
    <p:extLst>
      <p:ext uri="{BB962C8B-B14F-4D97-AF65-F5344CB8AC3E}">
        <p14:creationId xmlns:p14="http://schemas.microsoft.com/office/powerpoint/2010/main" val="4090683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43A1A-EF17-A187-82EB-2E32C04E87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9CD33C09-51DE-9E85-D98A-18053F7CC9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80F2C841-5C1E-ED0A-AAE3-C18F3A8841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D4D559-A18F-CCE0-2257-F41FB2818AB8}"/>
              </a:ext>
            </a:extLst>
          </p:cNvPr>
          <p:cNvSpPr>
            <a:spLocks noGrp="1"/>
          </p:cNvSpPr>
          <p:nvPr>
            <p:ph type="dt" sz="half" idx="10"/>
          </p:nvPr>
        </p:nvSpPr>
        <p:spPr/>
        <p:txBody>
          <a:bodyPr/>
          <a:lstStyle/>
          <a:p>
            <a:fld id="{FFCFFA18-7767-49C7-B0DF-6D9CE3017E60}" type="datetimeFigureOut">
              <a:rPr lang="en-GB" smtClean="0"/>
              <a:t>10/06/2026</a:t>
            </a:fld>
            <a:endParaRPr lang="en-GB"/>
          </a:p>
        </p:txBody>
      </p:sp>
      <p:sp>
        <p:nvSpPr>
          <p:cNvPr id="6" name="Footer Placeholder 5">
            <a:extLst>
              <a:ext uri="{FF2B5EF4-FFF2-40B4-BE49-F238E27FC236}">
                <a16:creationId xmlns:a16="http://schemas.microsoft.com/office/drawing/2014/main" id="{D451F76D-5E45-E48E-9E18-FCA925D030B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677B894-422E-4100-FDD7-020A958E03D4}"/>
              </a:ext>
            </a:extLst>
          </p:cNvPr>
          <p:cNvSpPr>
            <a:spLocks noGrp="1"/>
          </p:cNvSpPr>
          <p:nvPr>
            <p:ph type="sldNum" sz="quarter" idx="12"/>
          </p:nvPr>
        </p:nvSpPr>
        <p:spPr/>
        <p:txBody>
          <a:bodyPr/>
          <a:lstStyle/>
          <a:p>
            <a:fld id="{A076365C-CE9B-4F7B-89A5-B99B63FF919B}" type="slidenum">
              <a:rPr lang="en-GB" smtClean="0"/>
              <a:t>‹#›</a:t>
            </a:fld>
            <a:endParaRPr lang="en-GB"/>
          </a:p>
        </p:txBody>
      </p:sp>
    </p:spTree>
    <p:extLst>
      <p:ext uri="{BB962C8B-B14F-4D97-AF65-F5344CB8AC3E}">
        <p14:creationId xmlns:p14="http://schemas.microsoft.com/office/powerpoint/2010/main" val="404126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D65F4-7E61-6DE6-AE20-E5091F7F2B3E}"/>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5C47A23-CAA3-C534-DC5B-4D70B06BA5A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8207BAF-71D6-B9A5-BC59-1673614C7FF3}"/>
              </a:ext>
            </a:extLst>
          </p:cNvPr>
          <p:cNvSpPr>
            <a:spLocks noGrp="1"/>
          </p:cNvSpPr>
          <p:nvPr>
            <p:ph type="dt" sz="half" idx="10"/>
          </p:nvPr>
        </p:nvSpPr>
        <p:spPr/>
        <p:txBody>
          <a:bodyPr/>
          <a:lstStyle/>
          <a:p>
            <a:fld id="{FFCFFA18-7767-49C7-B0DF-6D9CE3017E60}" type="datetimeFigureOut">
              <a:rPr lang="en-GB" smtClean="0"/>
              <a:t>10/06/2026</a:t>
            </a:fld>
            <a:endParaRPr lang="en-GB"/>
          </a:p>
        </p:txBody>
      </p:sp>
      <p:sp>
        <p:nvSpPr>
          <p:cNvPr id="5" name="Footer Placeholder 4">
            <a:extLst>
              <a:ext uri="{FF2B5EF4-FFF2-40B4-BE49-F238E27FC236}">
                <a16:creationId xmlns:a16="http://schemas.microsoft.com/office/drawing/2014/main" id="{1C00FE00-74B6-805D-CDCF-522501C96EC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C3040B8-D1E1-C05F-31BA-90AD29EE12D9}"/>
              </a:ext>
            </a:extLst>
          </p:cNvPr>
          <p:cNvSpPr>
            <a:spLocks noGrp="1"/>
          </p:cNvSpPr>
          <p:nvPr>
            <p:ph type="sldNum" sz="quarter" idx="12"/>
          </p:nvPr>
        </p:nvSpPr>
        <p:spPr/>
        <p:txBody>
          <a:bodyPr/>
          <a:lstStyle/>
          <a:p>
            <a:fld id="{A076365C-CE9B-4F7B-89A5-B99B63FF919B}" type="slidenum">
              <a:rPr lang="en-GB" smtClean="0"/>
              <a:t>‹#›</a:t>
            </a:fld>
            <a:endParaRPr lang="en-GB"/>
          </a:p>
        </p:txBody>
      </p:sp>
    </p:spTree>
    <p:extLst>
      <p:ext uri="{BB962C8B-B14F-4D97-AF65-F5344CB8AC3E}">
        <p14:creationId xmlns:p14="http://schemas.microsoft.com/office/powerpoint/2010/main" val="14267875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73E60BB-75D0-D941-0EF0-F907ADBD598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56E5FC6-8B2D-F164-A1EA-0DA318ED63C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7558C78-7FD6-ACF7-2F0A-62E4976734D0}"/>
              </a:ext>
            </a:extLst>
          </p:cNvPr>
          <p:cNvSpPr>
            <a:spLocks noGrp="1"/>
          </p:cNvSpPr>
          <p:nvPr>
            <p:ph type="dt" sz="half" idx="10"/>
          </p:nvPr>
        </p:nvSpPr>
        <p:spPr/>
        <p:txBody>
          <a:bodyPr/>
          <a:lstStyle/>
          <a:p>
            <a:fld id="{FFCFFA18-7767-49C7-B0DF-6D9CE3017E60}" type="datetimeFigureOut">
              <a:rPr lang="en-GB" smtClean="0"/>
              <a:t>10/06/2026</a:t>
            </a:fld>
            <a:endParaRPr lang="en-GB"/>
          </a:p>
        </p:txBody>
      </p:sp>
      <p:sp>
        <p:nvSpPr>
          <p:cNvPr id="5" name="Footer Placeholder 4">
            <a:extLst>
              <a:ext uri="{FF2B5EF4-FFF2-40B4-BE49-F238E27FC236}">
                <a16:creationId xmlns:a16="http://schemas.microsoft.com/office/drawing/2014/main" id="{C9B8EBC4-20AB-72D8-37C5-225CADF0E93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BDDE4E0-B7F2-65CF-1C1E-65F6F5CA300C}"/>
              </a:ext>
            </a:extLst>
          </p:cNvPr>
          <p:cNvSpPr>
            <a:spLocks noGrp="1"/>
          </p:cNvSpPr>
          <p:nvPr>
            <p:ph type="sldNum" sz="quarter" idx="12"/>
          </p:nvPr>
        </p:nvSpPr>
        <p:spPr/>
        <p:txBody>
          <a:bodyPr/>
          <a:lstStyle/>
          <a:p>
            <a:fld id="{A076365C-CE9B-4F7B-89A5-B99B63FF919B}" type="slidenum">
              <a:rPr lang="en-GB" smtClean="0"/>
              <a:t>‹#›</a:t>
            </a:fld>
            <a:endParaRPr lang="en-GB"/>
          </a:p>
        </p:txBody>
      </p:sp>
    </p:spTree>
    <p:extLst>
      <p:ext uri="{BB962C8B-B14F-4D97-AF65-F5344CB8AC3E}">
        <p14:creationId xmlns:p14="http://schemas.microsoft.com/office/powerpoint/2010/main" val="38812707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04D44F-AF68-359D-90EA-7144CEF207A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CFD06EE-6F42-B75E-D98E-4E9921F2B85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1BE0227-9CD0-FF4A-40D7-426AD61166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FCFFA18-7767-49C7-B0DF-6D9CE3017E60}" type="datetimeFigureOut">
              <a:rPr lang="en-GB" smtClean="0"/>
              <a:t>10/06/2026</a:t>
            </a:fld>
            <a:endParaRPr lang="en-GB"/>
          </a:p>
        </p:txBody>
      </p:sp>
      <p:sp>
        <p:nvSpPr>
          <p:cNvPr id="5" name="Footer Placeholder 4">
            <a:extLst>
              <a:ext uri="{FF2B5EF4-FFF2-40B4-BE49-F238E27FC236}">
                <a16:creationId xmlns:a16="http://schemas.microsoft.com/office/drawing/2014/main" id="{8D68BDBD-B3F4-B7D4-F14B-6D8A401F6C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A20F6F4C-D1DC-8185-20EE-A06C26E5E78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076365C-CE9B-4F7B-89A5-B99B63FF919B}" type="slidenum">
              <a:rPr lang="en-GB" smtClean="0"/>
              <a:t>‹#›</a:t>
            </a:fld>
            <a:endParaRPr lang="en-GB"/>
          </a:p>
        </p:txBody>
      </p:sp>
    </p:spTree>
    <p:extLst>
      <p:ext uri="{BB962C8B-B14F-4D97-AF65-F5344CB8AC3E}">
        <p14:creationId xmlns:p14="http://schemas.microsoft.com/office/powerpoint/2010/main" val="11100562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7.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AA90D-27A9-C970-FB03-73B2580823A3}"/>
              </a:ext>
            </a:extLst>
          </p:cNvPr>
          <p:cNvSpPr>
            <a:spLocks noGrp="1"/>
          </p:cNvSpPr>
          <p:nvPr>
            <p:ph type="ctrTitle"/>
          </p:nvPr>
        </p:nvSpPr>
        <p:spPr/>
        <p:txBody>
          <a:bodyPr/>
          <a:lstStyle/>
          <a:p>
            <a:endParaRPr lang="en-GB"/>
          </a:p>
        </p:txBody>
      </p:sp>
      <p:sp>
        <p:nvSpPr>
          <p:cNvPr id="3" name="Subtitle 2">
            <a:extLst>
              <a:ext uri="{FF2B5EF4-FFF2-40B4-BE49-F238E27FC236}">
                <a16:creationId xmlns:a16="http://schemas.microsoft.com/office/drawing/2014/main" id="{4C54509C-09D6-E873-FE26-2D82F07982A4}"/>
              </a:ext>
            </a:extLst>
          </p:cNvPr>
          <p:cNvSpPr>
            <a:spLocks noGrp="1"/>
          </p:cNvSpPr>
          <p:nvPr>
            <p:ph type="subTitle" idx="1"/>
          </p:nvPr>
        </p:nvSpPr>
        <p:spPr/>
        <p:txBody>
          <a:bodyPr/>
          <a:lstStyle/>
          <a:p>
            <a:endParaRPr lang="en-GB"/>
          </a:p>
        </p:txBody>
      </p:sp>
      <p:pic>
        <p:nvPicPr>
          <p:cNvPr id="5" name="Picture 4">
            <a:extLst>
              <a:ext uri="{FF2B5EF4-FFF2-40B4-BE49-F238E27FC236}">
                <a16:creationId xmlns:a16="http://schemas.microsoft.com/office/drawing/2014/main" id="{BEC24726-DE13-40FF-93C6-08A39CCB2F15}"/>
              </a:ext>
            </a:extLst>
          </p:cNvPr>
          <p:cNvPicPr>
            <a:picLocks noChangeAspect="1"/>
          </p:cNvPicPr>
          <p:nvPr/>
        </p:nvPicPr>
        <p:blipFill>
          <a:blip r:embed="rId3"/>
          <a:srcRect t="12310"/>
          <a:stretch>
            <a:fillRect/>
          </a:stretch>
        </p:blipFill>
        <p:spPr>
          <a:xfrm>
            <a:off x="0" y="0"/>
            <a:ext cx="12192000" cy="6858000"/>
          </a:xfrm>
          <a:prstGeom prst="rect">
            <a:avLst/>
          </a:prstGeom>
        </p:spPr>
      </p:pic>
      <p:sp>
        <p:nvSpPr>
          <p:cNvPr id="6" name="Rectangle 5">
            <a:extLst>
              <a:ext uri="{FF2B5EF4-FFF2-40B4-BE49-F238E27FC236}">
                <a16:creationId xmlns:a16="http://schemas.microsoft.com/office/drawing/2014/main" id="{EEA7D381-C141-1B3C-EBDB-376837E6D4B0}"/>
              </a:ext>
            </a:extLst>
          </p:cNvPr>
          <p:cNvSpPr/>
          <p:nvPr/>
        </p:nvSpPr>
        <p:spPr>
          <a:xfrm>
            <a:off x="202019" y="4784651"/>
            <a:ext cx="4625162" cy="1073889"/>
          </a:xfrm>
          <a:prstGeom prst="rect">
            <a:avLst/>
          </a:prstGeom>
          <a:solidFill>
            <a:srgbClr val="0000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5268951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6A160-A1AB-2416-E01C-4542E127D9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ED395D-8882-9691-A1A3-F5538D075DB8}"/>
              </a:ext>
            </a:extLst>
          </p:cNvPr>
          <p:cNvSpPr>
            <a:spLocks noGrp="1"/>
          </p:cNvSpPr>
          <p:nvPr>
            <p:ph type="ctrTitle"/>
          </p:nvPr>
        </p:nvSpPr>
        <p:spPr>
          <a:xfrm>
            <a:off x="0" y="-8259"/>
            <a:ext cx="7363326" cy="6866259"/>
          </a:xfrm>
          <a:solidFill>
            <a:srgbClr val="000000"/>
          </a:solidFill>
        </p:spPr>
        <p:txBody>
          <a:bodyPr/>
          <a:lstStyle/>
          <a:p>
            <a:pPr algn="l"/>
            <a:r>
              <a:rPr lang="en-GB" b="1" dirty="0">
                <a:solidFill>
                  <a:schemeClr val="bg1"/>
                </a:solidFill>
              </a:rPr>
              <a:t>Background</a:t>
            </a:r>
            <a:br>
              <a:rPr lang="en-GB" b="1" dirty="0">
                <a:solidFill>
                  <a:schemeClr val="bg1"/>
                </a:solidFill>
              </a:rPr>
            </a:br>
            <a:br>
              <a:rPr lang="en-GB" sz="2800" dirty="0">
                <a:solidFill>
                  <a:schemeClr val="bg1"/>
                </a:solidFill>
              </a:rPr>
            </a:br>
            <a:r>
              <a:rPr lang="en-GB" sz="2800" b="1" dirty="0">
                <a:solidFill>
                  <a:schemeClr val="bg1"/>
                </a:solidFill>
              </a:rPr>
              <a:t>The story of Sir Ernest Shackleton</a:t>
            </a:r>
            <a:br>
              <a:rPr lang="en-GB" sz="2800" dirty="0">
                <a:solidFill>
                  <a:schemeClr val="bg1"/>
                </a:solidFill>
              </a:rPr>
            </a:br>
            <a:br>
              <a:rPr lang="en-GB" sz="2800" dirty="0">
                <a:solidFill>
                  <a:schemeClr val="bg1"/>
                </a:solidFill>
              </a:rPr>
            </a:br>
            <a:br>
              <a:rPr lang="en-GB" sz="2800" dirty="0">
                <a:solidFill>
                  <a:schemeClr val="bg1"/>
                </a:solidFill>
              </a:rPr>
            </a:br>
            <a:br>
              <a:rPr lang="en-GB" sz="2800" dirty="0">
                <a:solidFill>
                  <a:schemeClr val="bg1"/>
                </a:solidFill>
              </a:rPr>
            </a:br>
            <a:r>
              <a:rPr lang="en-GB" sz="2800" dirty="0">
                <a:solidFill>
                  <a:schemeClr val="bg1"/>
                </a:solidFill>
              </a:rPr>
              <a:t>&gt; Led 1914 Endurance expedition to Antarctica</a:t>
            </a:r>
            <a:br>
              <a:rPr lang="en-GB" sz="2800" dirty="0">
                <a:solidFill>
                  <a:schemeClr val="bg1"/>
                </a:solidFill>
              </a:rPr>
            </a:br>
            <a:r>
              <a:rPr lang="en-GB" sz="2800" dirty="0">
                <a:solidFill>
                  <a:schemeClr val="bg1"/>
                </a:solidFill>
              </a:rPr>
              <a:t>&gt; Ship became trapped in ice, then sank</a:t>
            </a:r>
            <a:br>
              <a:rPr lang="en-GB" sz="2800" dirty="0">
                <a:solidFill>
                  <a:schemeClr val="bg1"/>
                </a:solidFill>
              </a:rPr>
            </a:br>
            <a:r>
              <a:rPr lang="en-GB" sz="2800" dirty="0">
                <a:solidFill>
                  <a:schemeClr val="bg1"/>
                </a:solidFill>
              </a:rPr>
              <a:t>&gt; 28 men walked 500 miles, dragging lifeboats</a:t>
            </a:r>
            <a:br>
              <a:rPr lang="en-GB" sz="2800" dirty="0">
                <a:solidFill>
                  <a:schemeClr val="bg1"/>
                </a:solidFill>
              </a:rPr>
            </a:br>
            <a:r>
              <a:rPr lang="en-GB" sz="2800" dirty="0">
                <a:solidFill>
                  <a:schemeClr val="bg1"/>
                </a:solidFill>
              </a:rPr>
              <a:t>&gt; Reached edge of ice, got into lifeboats, rowed</a:t>
            </a:r>
            <a:br>
              <a:rPr lang="en-GB" sz="2800" dirty="0">
                <a:solidFill>
                  <a:schemeClr val="bg1"/>
                </a:solidFill>
              </a:rPr>
            </a:br>
            <a:r>
              <a:rPr lang="en-GB" sz="2800" dirty="0">
                <a:solidFill>
                  <a:schemeClr val="bg1"/>
                </a:solidFill>
              </a:rPr>
              <a:t>&gt; Another 100 miles in lifeboats to barren island</a:t>
            </a:r>
            <a:br>
              <a:rPr lang="en-GB" sz="2800" dirty="0">
                <a:solidFill>
                  <a:schemeClr val="bg1"/>
                </a:solidFill>
              </a:rPr>
            </a:br>
            <a:r>
              <a:rPr lang="en-GB" sz="2800" dirty="0">
                <a:solidFill>
                  <a:schemeClr val="bg1"/>
                </a:solidFill>
              </a:rPr>
              <a:t>&gt; 10 days later, 6 men begin 800-mile voyage</a:t>
            </a:r>
            <a:br>
              <a:rPr lang="en-GB" sz="2800" dirty="0">
                <a:solidFill>
                  <a:schemeClr val="bg1"/>
                </a:solidFill>
              </a:rPr>
            </a:br>
            <a:r>
              <a:rPr lang="en-GB" sz="2800" dirty="0">
                <a:solidFill>
                  <a:schemeClr val="bg1"/>
                </a:solidFill>
              </a:rPr>
              <a:t>&gt; Landed, crossed South Georgia, sent telegraph</a:t>
            </a:r>
            <a:br>
              <a:rPr lang="en-GB" sz="2800" dirty="0">
                <a:solidFill>
                  <a:schemeClr val="bg1"/>
                </a:solidFill>
              </a:rPr>
            </a:br>
            <a:r>
              <a:rPr lang="en-GB" sz="2800" dirty="0">
                <a:solidFill>
                  <a:schemeClr val="bg1"/>
                </a:solidFill>
              </a:rPr>
              <a:t>&gt; Organised rescue operation</a:t>
            </a:r>
            <a:br>
              <a:rPr lang="en-GB" sz="2800" dirty="0">
                <a:solidFill>
                  <a:schemeClr val="bg1"/>
                </a:solidFill>
              </a:rPr>
            </a:br>
            <a:r>
              <a:rPr lang="en-GB" sz="2800" dirty="0">
                <a:solidFill>
                  <a:schemeClr val="bg1"/>
                </a:solidFill>
              </a:rPr>
              <a:t>&gt; Saved every single man</a:t>
            </a:r>
            <a:br>
              <a:rPr lang="en-GB" sz="2800" dirty="0">
                <a:solidFill>
                  <a:schemeClr val="bg1"/>
                </a:solidFill>
              </a:rPr>
            </a:br>
            <a:endParaRPr lang="en-GB" sz="2800" dirty="0">
              <a:solidFill>
                <a:schemeClr val="bg1"/>
              </a:solidFill>
            </a:endParaRPr>
          </a:p>
        </p:txBody>
      </p:sp>
      <p:pic>
        <p:nvPicPr>
          <p:cNvPr id="9218" name="Picture 2" descr="No photo description available.">
            <a:extLst>
              <a:ext uri="{FF2B5EF4-FFF2-40B4-BE49-F238E27FC236}">
                <a16:creationId xmlns:a16="http://schemas.microsoft.com/office/drawing/2014/main" id="{4F6858EB-DA30-BE32-0421-82564B887FA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8973" r="4767"/>
          <a:stretch>
            <a:fillRect/>
          </a:stretch>
        </p:blipFill>
        <p:spPr bwMode="auto">
          <a:xfrm>
            <a:off x="7363326" y="-8260"/>
            <a:ext cx="4828674" cy="6866259"/>
          </a:xfrm>
          <a:prstGeom prst="rect">
            <a:avLst/>
          </a:prstGeom>
          <a:noFill/>
          <a:ln w="38100">
            <a:solidFill>
              <a:schemeClr val="bg1"/>
            </a:solidFill>
          </a:ln>
          <a:extLst>
            <a:ext uri="{909E8E84-426E-40DD-AFC4-6F175D3DCCD1}">
              <a14:hiddenFill xmlns:a14="http://schemas.microsoft.com/office/drawing/2010/main">
                <a:solidFill>
                  <a:srgbClr val="FFFFFF"/>
                </a:solidFill>
              </a14:hiddenFill>
            </a:ext>
          </a:extLst>
        </p:spPr>
      </p:pic>
      <p:pic>
        <p:nvPicPr>
          <p:cNvPr id="9220" name="Picture 4" descr="Portrait photograph of Sir Ernest Shackleton, taken during the Imperial ...">
            <a:extLst>
              <a:ext uri="{FF2B5EF4-FFF2-40B4-BE49-F238E27FC236}">
                <a16:creationId xmlns:a16="http://schemas.microsoft.com/office/drawing/2014/main" id="{D6542852-98AF-408C-987A-ECA7F46B9C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78900" y="0"/>
            <a:ext cx="2394285" cy="2394285"/>
          </a:xfrm>
          <a:prstGeom prst="rect">
            <a:avLst/>
          </a:prstGeom>
          <a:noFill/>
          <a:ln w="38100">
            <a:solidFill>
              <a:schemeClr val="bg1"/>
            </a:solidFill>
          </a:ln>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2DCCC25-49C0-C3F7-59BA-EB9E1715F8C6}"/>
              </a:ext>
            </a:extLst>
          </p:cNvPr>
          <p:cNvSpPr txBox="1"/>
          <p:nvPr/>
        </p:nvSpPr>
        <p:spPr>
          <a:xfrm>
            <a:off x="7363325" y="6552750"/>
            <a:ext cx="4828675" cy="307777"/>
          </a:xfrm>
          <a:prstGeom prst="rect">
            <a:avLst/>
          </a:prstGeom>
          <a:solidFill>
            <a:schemeClr val="bg1"/>
          </a:solidFill>
        </p:spPr>
        <p:txBody>
          <a:bodyPr wrap="square" rtlCol="0">
            <a:spAutoFit/>
          </a:bodyPr>
          <a:lstStyle/>
          <a:p>
            <a:r>
              <a:rPr lang="en-GB" sz="1400" b="1" dirty="0"/>
              <a:t>SY Endurance, trapped in ice, 1915. Photo by Frank Hurley</a:t>
            </a:r>
          </a:p>
        </p:txBody>
      </p:sp>
    </p:spTree>
    <p:extLst>
      <p:ext uri="{BB962C8B-B14F-4D97-AF65-F5344CB8AC3E}">
        <p14:creationId xmlns:p14="http://schemas.microsoft.com/office/powerpoint/2010/main" val="13431058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8878E-A4D5-ECEF-9094-7CB59E57C9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FB9454-69AF-8C08-780E-268F2B79C59E}"/>
              </a:ext>
            </a:extLst>
          </p:cNvPr>
          <p:cNvSpPr>
            <a:spLocks noGrp="1"/>
          </p:cNvSpPr>
          <p:nvPr>
            <p:ph type="ctrTitle"/>
          </p:nvPr>
        </p:nvSpPr>
        <p:spPr>
          <a:xfrm>
            <a:off x="1" y="-8259"/>
            <a:ext cx="6211422" cy="6866259"/>
          </a:xfrm>
          <a:solidFill>
            <a:srgbClr val="000000"/>
          </a:solidFill>
        </p:spPr>
        <p:txBody>
          <a:bodyPr/>
          <a:lstStyle/>
          <a:p>
            <a:pPr algn="l"/>
            <a:r>
              <a:rPr lang="en-GB" b="1" dirty="0">
                <a:solidFill>
                  <a:schemeClr val="bg1"/>
                </a:solidFill>
              </a:rPr>
              <a:t>A lunar adventure</a:t>
            </a:r>
            <a:br>
              <a:rPr lang="en-GB" b="1" dirty="0">
                <a:solidFill>
                  <a:schemeClr val="bg1"/>
                </a:solidFill>
              </a:rPr>
            </a:br>
            <a:br>
              <a:rPr lang="en-GB" sz="2800" dirty="0">
                <a:solidFill>
                  <a:schemeClr val="bg1"/>
                </a:solidFill>
              </a:rPr>
            </a:br>
            <a:r>
              <a:rPr lang="en-GB" sz="2800" b="1" dirty="0">
                <a:solidFill>
                  <a:schemeClr val="bg1"/>
                </a:solidFill>
              </a:rPr>
              <a:t>Patrick Harkness</a:t>
            </a:r>
            <a:br>
              <a:rPr lang="en-GB" sz="2800" b="1" dirty="0">
                <a:solidFill>
                  <a:schemeClr val="bg1"/>
                </a:solidFill>
              </a:rPr>
            </a:br>
            <a:r>
              <a:rPr lang="en-GB" sz="2800" dirty="0">
                <a:solidFill>
                  <a:schemeClr val="bg1"/>
                </a:solidFill>
              </a:rPr>
              <a:t>Professor of Exploration Technology</a:t>
            </a:r>
            <a:br>
              <a:rPr lang="en-GB" sz="2800" dirty="0">
                <a:solidFill>
                  <a:schemeClr val="bg1"/>
                </a:solidFill>
              </a:rPr>
            </a:br>
            <a:r>
              <a:rPr lang="en-GB" sz="2800" dirty="0">
                <a:solidFill>
                  <a:schemeClr val="bg1"/>
                </a:solidFill>
              </a:rPr>
              <a:t>University of Glasgow</a:t>
            </a:r>
            <a:br>
              <a:rPr lang="en-GB" sz="2800" dirty="0">
                <a:solidFill>
                  <a:schemeClr val="bg1"/>
                </a:solidFill>
              </a:rPr>
            </a:br>
            <a:br>
              <a:rPr lang="en-GB" sz="2800" dirty="0">
                <a:solidFill>
                  <a:schemeClr val="bg1"/>
                </a:solidFill>
              </a:rPr>
            </a:br>
            <a:br>
              <a:rPr lang="en-GB" sz="2800" dirty="0">
                <a:solidFill>
                  <a:schemeClr val="bg1"/>
                </a:solidFill>
              </a:rPr>
            </a:br>
            <a:br>
              <a:rPr lang="en-GB" sz="2800" dirty="0">
                <a:solidFill>
                  <a:schemeClr val="bg1"/>
                </a:solidFill>
              </a:rPr>
            </a:br>
            <a:br>
              <a:rPr lang="en-GB" sz="2800" dirty="0">
                <a:solidFill>
                  <a:schemeClr val="bg1"/>
                </a:solidFill>
              </a:rPr>
            </a:br>
            <a:br>
              <a:rPr lang="en-GB" sz="2800" dirty="0">
                <a:solidFill>
                  <a:schemeClr val="bg1"/>
                </a:solidFill>
              </a:rPr>
            </a:br>
            <a:r>
              <a:rPr lang="en-GB" sz="2800" dirty="0">
                <a:solidFill>
                  <a:schemeClr val="bg1"/>
                </a:solidFill>
              </a:rPr>
              <a:t>The </a:t>
            </a:r>
            <a:r>
              <a:rPr lang="en-GB" sz="2800" i="1" dirty="0">
                <a:solidFill>
                  <a:schemeClr val="bg1"/>
                </a:solidFill>
              </a:rPr>
              <a:t>Shackleton</a:t>
            </a:r>
            <a:r>
              <a:rPr lang="en-GB" sz="2800" dirty="0">
                <a:solidFill>
                  <a:schemeClr val="bg1"/>
                </a:solidFill>
              </a:rPr>
              <a:t> project is a proposal for a CLPS rover to the lunar south pole.</a:t>
            </a:r>
            <a:br>
              <a:rPr lang="en-GB" sz="2800" dirty="0">
                <a:solidFill>
                  <a:schemeClr val="bg1"/>
                </a:solidFill>
              </a:rPr>
            </a:br>
            <a:br>
              <a:rPr lang="en-GB" sz="2800" dirty="0">
                <a:solidFill>
                  <a:schemeClr val="bg1"/>
                </a:solidFill>
              </a:rPr>
            </a:br>
            <a:r>
              <a:rPr lang="en-GB" sz="2800" dirty="0">
                <a:solidFill>
                  <a:schemeClr val="bg1"/>
                </a:solidFill>
              </a:rPr>
              <a:t>A full list of supporters may be found at shackletonrover.co.uk &gt; personnel</a:t>
            </a:r>
            <a:br>
              <a:rPr lang="en-GB" sz="2800" dirty="0">
                <a:solidFill>
                  <a:schemeClr val="bg1"/>
                </a:solidFill>
              </a:rPr>
            </a:br>
            <a:endParaRPr lang="en-GB" sz="2800" dirty="0">
              <a:solidFill>
                <a:schemeClr val="bg1"/>
              </a:solidFill>
            </a:endParaRPr>
          </a:p>
        </p:txBody>
      </p:sp>
      <p:pic>
        <p:nvPicPr>
          <p:cNvPr id="1026" name="Picture 2" descr="Mission logo">
            <a:extLst>
              <a:ext uri="{FF2B5EF4-FFF2-40B4-BE49-F238E27FC236}">
                <a16:creationId xmlns:a16="http://schemas.microsoft.com/office/drawing/2014/main" id="{A4A2C992-A904-58D7-8BB6-D40E2E43B4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8259"/>
            <a:ext cx="6096000" cy="68662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73897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B4D34-9A62-2A2C-B2EB-70AE1EB66B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138983-B5A2-47F1-5F66-C3D55BE57CC0}"/>
              </a:ext>
            </a:extLst>
          </p:cNvPr>
          <p:cNvSpPr>
            <a:spLocks noGrp="1"/>
          </p:cNvSpPr>
          <p:nvPr>
            <p:ph type="ctrTitle"/>
          </p:nvPr>
        </p:nvSpPr>
        <p:spPr>
          <a:xfrm>
            <a:off x="0" y="-8259"/>
            <a:ext cx="8530389" cy="6866259"/>
          </a:xfrm>
          <a:solidFill>
            <a:srgbClr val="000000"/>
          </a:solidFill>
        </p:spPr>
        <p:txBody>
          <a:bodyPr/>
          <a:lstStyle/>
          <a:p>
            <a:pPr algn="l"/>
            <a:r>
              <a:rPr lang="en-GB" b="1" dirty="0">
                <a:solidFill>
                  <a:schemeClr val="bg1"/>
                </a:solidFill>
              </a:rPr>
              <a:t>The expedition</a:t>
            </a:r>
            <a:br>
              <a:rPr lang="en-GB" sz="2800" dirty="0">
                <a:solidFill>
                  <a:schemeClr val="bg1"/>
                </a:solidFill>
              </a:rPr>
            </a:br>
            <a:br>
              <a:rPr lang="en-GB" sz="2800" dirty="0">
                <a:solidFill>
                  <a:schemeClr val="bg1"/>
                </a:solidFill>
              </a:rPr>
            </a:br>
            <a:br>
              <a:rPr lang="en-GB" sz="2800" dirty="0">
                <a:solidFill>
                  <a:schemeClr val="bg1"/>
                </a:solidFill>
              </a:rPr>
            </a:br>
            <a:r>
              <a:rPr lang="en-GB" sz="2800" b="1" dirty="0">
                <a:solidFill>
                  <a:schemeClr val="bg1"/>
                </a:solidFill>
              </a:rPr>
              <a:t>Why Moon? </a:t>
            </a:r>
            <a:r>
              <a:rPr lang="en-GB" sz="2800" dirty="0">
                <a:solidFill>
                  <a:schemeClr val="bg1"/>
                </a:solidFill>
              </a:rPr>
              <a:t>The UK does many things. </a:t>
            </a:r>
            <a:r>
              <a:rPr lang="en-GB" sz="2800">
                <a:solidFill>
                  <a:schemeClr val="bg1"/>
                </a:solidFill>
              </a:rPr>
              <a:t>A </a:t>
            </a:r>
            <a:r>
              <a:rPr lang="en-GB" sz="2800" dirty="0">
                <a:solidFill>
                  <a:schemeClr val="bg1"/>
                </a:solidFill>
              </a:rPr>
              <a:t>surface mission will unite capability around a clear exploration goal and secure a role in the emerging lunar economy.</a:t>
            </a:r>
            <a:br>
              <a:rPr lang="en-GB" sz="2800" dirty="0">
                <a:solidFill>
                  <a:schemeClr val="bg1"/>
                </a:solidFill>
              </a:rPr>
            </a:br>
            <a:br>
              <a:rPr lang="en-GB" sz="2800" dirty="0">
                <a:solidFill>
                  <a:schemeClr val="bg1"/>
                </a:solidFill>
              </a:rPr>
            </a:br>
            <a:r>
              <a:rPr lang="en-GB" sz="2800" b="1" dirty="0">
                <a:solidFill>
                  <a:schemeClr val="bg1"/>
                </a:solidFill>
              </a:rPr>
              <a:t>What economy? </a:t>
            </a:r>
            <a:r>
              <a:rPr lang="en-GB" sz="2800" dirty="0">
                <a:solidFill>
                  <a:schemeClr val="bg1"/>
                </a:solidFill>
              </a:rPr>
              <a:t>Lunar resources, especially water ice, will be vital to a sustainable space economy. However, there is still no ground truth. We can provide it, for all.</a:t>
            </a:r>
            <a:br>
              <a:rPr lang="en-GB" sz="2800" dirty="0">
                <a:solidFill>
                  <a:schemeClr val="bg1"/>
                </a:solidFill>
              </a:rPr>
            </a:br>
            <a:br>
              <a:rPr lang="en-GB" sz="2800" dirty="0">
                <a:solidFill>
                  <a:schemeClr val="bg1"/>
                </a:solidFill>
              </a:rPr>
            </a:br>
            <a:r>
              <a:rPr lang="en-GB" sz="2800" b="1" dirty="0">
                <a:solidFill>
                  <a:schemeClr val="bg1"/>
                </a:solidFill>
              </a:rPr>
              <a:t>Which partners?</a:t>
            </a:r>
            <a:r>
              <a:rPr lang="en-GB" sz="2800" dirty="0">
                <a:solidFill>
                  <a:schemeClr val="bg1"/>
                </a:solidFill>
              </a:rPr>
              <a:t> We intend to work with </a:t>
            </a:r>
            <a:r>
              <a:rPr lang="en-GB" sz="2800" i="1" dirty="0">
                <a:solidFill>
                  <a:schemeClr val="bg1"/>
                </a:solidFill>
              </a:rPr>
              <a:t>Intuitive Machines</a:t>
            </a:r>
            <a:r>
              <a:rPr lang="en-GB" sz="2800" dirty="0">
                <a:solidFill>
                  <a:schemeClr val="bg1"/>
                </a:solidFill>
              </a:rPr>
              <a:t>, and to develop partnerships with potential operations teams in Canada and Australia.</a:t>
            </a:r>
            <a:br>
              <a:rPr lang="en-GB" sz="2800" dirty="0">
                <a:solidFill>
                  <a:schemeClr val="bg1"/>
                </a:solidFill>
              </a:rPr>
            </a:br>
            <a:br>
              <a:rPr lang="en-GB" sz="2800" dirty="0">
                <a:solidFill>
                  <a:schemeClr val="bg1"/>
                </a:solidFill>
              </a:rPr>
            </a:br>
            <a:endParaRPr lang="en-GB" sz="2800" dirty="0">
              <a:solidFill>
                <a:schemeClr val="bg1"/>
              </a:solidFill>
            </a:endParaRPr>
          </a:p>
        </p:txBody>
      </p:sp>
      <p:pic>
        <p:nvPicPr>
          <p:cNvPr id="5" name="Picture 4">
            <a:extLst>
              <a:ext uri="{FF2B5EF4-FFF2-40B4-BE49-F238E27FC236}">
                <a16:creationId xmlns:a16="http://schemas.microsoft.com/office/drawing/2014/main" id="{8E513F84-FD32-8431-74D3-8A93F67E6027}"/>
              </a:ext>
            </a:extLst>
          </p:cNvPr>
          <p:cNvPicPr>
            <a:picLocks noChangeAspect="1"/>
          </p:cNvPicPr>
          <p:nvPr/>
        </p:nvPicPr>
        <p:blipFill>
          <a:blip r:embed="rId3"/>
          <a:srcRect l="16633" r="8325"/>
          <a:stretch>
            <a:fillRect/>
          </a:stretch>
        </p:blipFill>
        <p:spPr>
          <a:xfrm rot="16200000">
            <a:off x="6834823" y="1500818"/>
            <a:ext cx="6866258" cy="3848099"/>
          </a:xfrm>
          <a:prstGeom prst="rect">
            <a:avLst/>
          </a:prstGeom>
        </p:spPr>
      </p:pic>
    </p:spTree>
    <p:extLst>
      <p:ext uri="{BB962C8B-B14F-4D97-AF65-F5344CB8AC3E}">
        <p14:creationId xmlns:p14="http://schemas.microsoft.com/office/powerpoint/2010/main" val="35003611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83C03-52F0-6D40-FCC7-AC7AE8E8D8A4}"/>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987684F5-8398-C019-7A95-242E6EF1D950}"/>
              </a:ext>
            </a:extLst>
          </p:cNvPr>
          <p:cNvSpPr txBox="1">
            <a:spLocks/>
          </p:cNvSpPr>
          <p:nvPr/>
        </p:nvSpPr>
        <p:spPr>
          <a:xfrm>
            <a:off x="0" y="-16518"/>
            <a:ext cx="8171108" cy="6866259"/>
          </a:xfrm>
          <a:prstGeom prst="rect">
            <a:avLst/>
          </a:prstGeom>
          <a:solidFill>
            <a:srgbClr val="000000"/>
          </a:solid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endParaRPr lang="en-GB" sz="2800" dirty="0">
              <a:solidFill>
                <a:schemeClr val="bg1"/>
              </a:solidFill>
            </a:endParaRPr>
          </a:p>
        </p:txBody>
      </p:sp>
      <p:pic>
        <p:nvPicPr>
          <p:cNvPr id="6" name="Picture 5">
            <a:extLst>
              <a:ext uri="{FF2B5EF4-FFF2-40B4-BE49-F238E27FC236}">
                <a16:creationId xmlns:a16="http://schemas.microsoft.com/office/drawing/2014/main" id="{B9090047-410D-6028-4905-698DD418DB8A}"/>
              </a:ext>
            </a:extLst>
          </p:cNvPr>
          <p:cNvPicPr>
            <a:picLocks noChangeAspect="1"/>
          </p:cNvPicPr>
          <p:nvPr/>
        </p:nvPicPr>
        <p:blipFill>
          <a:blip r:embed="rId3"/>
          <a:stretch>
            <a:fillRect/>
          </a:stretch>
        </p:blipFill>
        <p:spPr>
          <a:xfrm>
            <a:off x="4020893" y="-8259"/>
            <a:ext cx="8171107" cy="6858000"/>
          </a:xfrm>
          <a:prstGeom prst="rect">
            <a:avLst/>
          </a:prstGeom>
        </p:spPr>
      </p:pic>
      <p:sp>
        <p:nvSpPr>
          <p:cNvPr id="2" name="Title 1">
            <a:extLst>
              <a:ext uri="{FF2B5EF4-FFF2-40B4-BE49-F238E27FC236}">
                <a16:creationId xmlns:a16="http://schemas.microsoft.com/office/drawing/2014/main" id="{7B4DD028-7210-C342-4AF7-54F5C6B78000}"/>
              </a:ext>
            </a:extLst>
          </p:cNvPr>
          <p:cNvSpPr>
            <a:spLocks noGrp="1"/>
          </p:cNvSpPr>
          <p:nvPr>
            <p:ph type="ctrTitle"/>
          </p:nvPr>
        </p:nvSpPr>
        <p:spPr>
          <a:xfrm>
            <a:off x="-1" y="-8259"/>
            <a:ext cx="10479505" cy="6866259"/>
          </a:xfrm>
          <a:noFill/>
        </p:spPr>
        <p:txBody>
          <a:bodyPr/>
          <a:lstStyle/>
          <a:p>
            <a:pPr algn="l"/>
            <a:r>
              <a:rPr lang="en-GB" b="1" dirty="0">
                <a:solidFill>
                  <a:schemeClr val="bg1"/>
                </a:solidFill>
              </a:rPr>
              <a:t>The rover</a:t>
            </a:r>
            <a:br>
              <a:rPr lang="en-GB" sz="2800" dirty="0">
                <a:solidFill>
                  <a:schemeClr val="bg1"/>
                </a:solidFill>
              </a:rPr>
            </a:br>
            <a:br>
              <a:rPr lang="en-GB" sz="2800" dirty="0">
                <a:solidFill>
                  <a:schemeClr val="bg1"/>
                </a:solidFill>
              </a:rPr>
            </a:br>
            <a:br>
              <a:rPr lang="en-GB" sz="2800" dirty="0">
                <a:solidFill>
                  <a:schemeClr val="bg1"/>
                </a:solidFill>
              </a:rPr>
            </a:br>
            <a:r>
              <a:rPr lang="en-GB" sz="2800" b="1" dirty="0">
                <a:solidFill>
                  <a:schemeClr val="bg1"/>
                </a:solidFill>
              </a:rPr>
              <a:t>Architecture: </a:t>
            </a:r>
            <a:r>
              <a:rPr lang="en-GB" sz="2800" dirty="0">
                <a:solidFill>
                  <a:schemeClr val="bg1"/>
                </a:solidFill>
              </a:rPr>
              <a:t>We are currently proposing a 20kg rover with </a:t>
            </a:r>
            <a:br>
              <a:rPr lang="en-GB" sz="2800" dirty="0">
                <a:solidFill>
                  <a:schemeClr val="bg1"/>
                </a:solidFill>
              </a:rPr>
            </a:br>
            <a:r>
              <a:rPr lang="en-GB" sz="2800" dirty="0">
                <a:solidFill>
                  <a:schemeClr val="bg1"/>
                </a:solidFill>
              </a:rPr>
              <a:t>skid-steering and S-band comms via the CLPS lander. </a:t>
            </a:r>
            <a:br>
              <a:rPr lang="en-GB" sz="2800" dirty="0">
                <a:solidFill>
                  <a:schemeClr val="bg1"/>
                </a:solidFill>
              </a:rPr>
            </a:br>
            <a:br>
              <a:rPr lang="en-GB" sz="2800" dirty="0">
                <a:solidFill>
                  <a:schemeClr val="bg1"/>
                </a:solidFill>
              </a:rPr>
            </a:br>
            <a:r>
              <a:rPr lang="en-GB" sz="2800" b="1" dirty="0">
                <a:solidFill>
                  <a:schemeClr val="bg1"/>
                </a:solidFill>
              </a:rPr>
              <a:t>Duration: </a:t>
            </a:r>
            <a:r>
              <a:rPr lang="en-GB" sz="2800" dirty="0">
                <a:solidFill>
                  <a:schemeClr val="bg1"/>
                </a:solidFill>
              </a:rPr>
              <a:t>Nominally 14 days, using solar power, </a:t>
            </a:r>
            <a:br>
              <a:rPr lang="en-GB" sz="2800" dirty="0">
                <a:solidFill>
                  <a:schemeClr val="bg1"/>
                </a:solidFill>
              </a:rPr>
            </a:br>
            <a:r>
              <a:rPr lang="en-GB" sz="2800" dirty="0">
                <a:solidFill>
                  <a:schemeClr val="bg1"/>
                </a:solidFill>
              </a:rPr>
              <a:t>with batteries for 1h dark sorties. However, </a:t>
            </a:r>
            <a:br>
              <a:rPr lang="en-GB" sz="2800" dirty="0">
                <a:solidFill>
                  <a:schemeClr val="bg1"/>
                </a:solidFill>
              </a:rPr>
            </a:br>
            <a:r>
              <a:rPr lang="en-GB" sz="2800" dirty="0">
                <a:solidFill>
                  <a:schemeClr val="bg1"/>
                </a:solidFill>
              </a:rPr>
              <a:t>radioisotope heaters may permit survival.</a:t>
            </a:r>
            <a:br>
              <a:rPr lang="en-GB" sz="2800" dirty="0">
                <a:solidFill>
                  <a:schemeClr val="bg1"/>
                </a:solidFill>
              </a:rPr>
            </a:br>
            <a:br>
              <a:rPr lang="en-GB" sz="2800" dirty="0">
                <a:solidFill>
                  <a:schemeClr val="bg1"/>
                </a:solidFill>
              </a:rPr>
            </a:br>
            <a:r>
              <a:rPr lang="en-GB" sz="2800" b="1" dirty="0">
                <a:solidFill>
                  <a:schemeClr val="bg1"/>
                </a:solidFill>
              </a:rPr>
              <a:t>Payload: </a:t>
            </a:r>
            <a:r>
              <a:rPr lang="en-GB" sz="2800" dirty="0">
                <a:solidFill>
                  <a:schemeClr val="bg1"/>
                </a:solidFill>
              </a:rPr>
              <a:t>A penetrator payload with </a:t>
            </a:r>
            <a:br>
              <a:rPr lang="en-GB" sz="2800" dirty="0">
                <a:solidFill>
                  <a:schemeClr val="bg1"/>
                </a:solidFill>
              </a:rPr>
            </a:br>
            <a:r>
              <a:rPr lang="en-GB" sz="2800" dirty="0">
                <a:solidFill>
                  <a:schemeClr val="bg1"/>
                </a:solidFill>
              </a:rPr>
              <a:t>heaters to evolve gases and an </a:t>
            </a:r>
            <a:br>
              <a:rPr lang="en-GB" sz="2800" dirty="0">
                <a:solidFill>
                  <a:schemeClr val="bg1"/>
                </a:solidFill>
              </a:rPr>
            </a:br>
            <a:r>
              <a:rPr lang="en-GB" sz="2800" dirty="0">
                <a:solidFill>
                  <a:schemeClr val="bg1"/>
                </a:solidFill>
              </a:rPr>
              <a:t>associated mass spectrometer. </a:t>
            </a:r>
            <a:br>
              <a:rPr lang="en-GB" sz="2800" dirty="0">
                <a:solidFill>
                  <a:schemeClr val="bg1"/>
                </a:solidFill>
              </a:rPr>
            </a:br>
            <a:r>
              <a:rPr lang="en-GB" sz="2800" dirty="0" err="1">
                <a:solidFill>
                  <a:schemeClr val="bg1"/>
                </a:solidFill>
              </a:rPr>
              <a:t>Regolith</a:t>
            </a:r>
            <a:r>
              <a:rPr lang="en-GB" sz="2800" dirty="0">
                <a:solidFill>
                  <a:schemeClr val="bg1"/>
                </a:solidFill>
              </a:rPr>
              <a:t> thermo-mechanical </a:t>
            </a:r>
            <a:br>
              <a:rPr lang="en-GB" sz="2800" dirty="0">
                <a:solidFill>
                  <a:schemeClr val="bg1"/>
                </a:solidFill>
              </a:rPr>
            </a:br>
            <a:r>
              <a:rPr lang="en-GB" sz="2800" dirty="0">
                <a:solidFill>
                  <a:schemeClr val="bg1"/>
                </a:solidFill>
              </a:rPr>
              <a:t>properties to be measured.</a:t>
            </a:r>
            <a:br>
              <a:rPr lang="en-GB" sz="2800" dirty="0">
                <a:solidFill>
                  <a:schemeClr val="bg1"/>
                </a:solidFill>
              </a:rPr>
            </a:br>
            <a:endParaRPr lang="en-GB" sz="2800" dirty="0">
              <a:solidFill>
                <a:schemeClr val="bg1"/>
              </a:solidFill>
            </a:endParaRPr>
          </a:p>
        </p:txBody>
      </p:sp>
    </p:spTree>
    <p:extLst>
      <p:ext uri="{BB962C8B-B14F-4D97-AF65-F5344CB8AC3E}">
        <p14:creationId xmlns:p14="http://schemas.microsoft.com/office/powerpoint/2010/main" val="22569425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10989-13FA-7DA4-1B26-8D8AF9AF56A0}"/>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AABCD683-9D49-DB59-A490-DE2D48954169}"/>
              </a:ext>
            </a:extLst>
          </p:cNvPr>
          <p:cNvSpPr txBox="1">
            <a:spLocks/>
          </p:cNvSpPr>
          <p:nvPr/>
        </p:nvSpPr>
        <p:spPr>
          <a:xfrm>
            <a:off x="0" y="-16518"/>
            <a:ext cx="8171108" cy="6866259"/>
          </a:xfrm>
          <a:prstGeom prst="rect">
            <a:avLst/>
          </a:prstGeom>
          <a:solidFill>
            <a:srgbClr val="000000"/>
          </a:solid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endParaRPr lang="en-GB" sz="2800" dirty="0">
              <a:solidFill>
                <a:schemeClr val="bg1"/>
              </a:solidFill>
            </a:endParaRPr>
          </a:p>
        </p:txBody>
      </p:sp>
      <p:sp>
        <p:nvSpPr>
          <p:cNvPr id="2" name="Title 1">
            <a:extLst>
              <a:ext uri="{FF2B5EF4-FFF2-40B4-BE49-F238E27FC236}">
                <a16:creationId xmlns:a16="http://schemas.microsoft.com/office/drawing/2014/main" id="{08E8E2DB-2436-A914-9809-5248C2CD33BE}"/>
              </a:ext>
            </a:extLst>
          </p:cNvPr>
          <p:cNvSpPr>
            <a:spLocks noGrp="1"/>
          </p:cNvSpPr>
          <p:nvPr>
            <p:ph type="ctrTitle"/>
          </p:nvPr>
        </p:nvSpPr>
        <p:spPr>
          <a:xfrm>
            <a:off x="-1" y="-8259"/>
            <a:ext cx="6953251" cy="6866259"/>
          </a:xfrm>
          <a:noFill/>
        </p:spPr>
        <p:txBody>
          <a:bodyPr/>
          <a:lstStyle/>
          <a:p>
            <a:pPr algn="l"/>
            <a:r>
              <a:rPr lang="en-GB" b="1" dirty="0">
                <a:solidFill>
                  <a:schemeClr val="bg1"/>
                </a:solidFill>
              </a:rPr>
              <a:t>The payload</a:t>
            </a:r>
            <a:br>
              <a:rPr lang="en-GB" sz="2800" dirty="0">
                <a:solidFill>
                  <a:schemeClr val="bg1"/>
                </a:solidFill>
              </a:rPr>
            </a:br>
            <a:br>
              <a:rPr lang="en-GB" sz="2800" dirty="0">
                <a:solidFill>
                  <a:schemeClr val="bg1"/>
                </a:solidFill>
              </a:rPr>
            </a:br>
            <a:br>
              <a:rPr lang="en-GB" sz="2800" dirty="0">
                <a:solidFill>
                  <a:schemeClr val="bg1"/>
                </a:solidFill>
              </a:rPr>
            </a:br>
            <a:r>
              <a:rPr lang="en-GB" sz="2800" b="1" dirty="0">
                <a:solidFill>
                  <a:schemeClr val="bg1"/>
                </a:solidFill>
              </a:rPr>
              <a:t>Problem: </a:t>
            </a:r>
            <a:r>
              <a:rPr lang="en-GB" sz="2800" dirty="0">
                <a:solidFill>
                  <a:schemeClr val="bg1"/>
                </a:solidFill>
              </a:rPr>
              <a:t>Weight and torque are extremely constrained. Most drilling rovers are at least an order-of-magnitude more massive.</a:t>
            </a:r>
            <a:br>
              <a:rPr lang="en-GB" sz="2800" dirty="0">
                <a:solidFill>
                  <a:schemeClr val="bg1"/>
                </a:solidFill>
              </a:rPr>
            </a:br>
            <a:br>
              <a:rPr lang="en-GB" sz="2800" dirty="0">
                <a:solidFill>
                  <a:schemeClr val="bg1"/>
                </a:solidFill>
              </a:rPr>
            </a:br>
            <a:r>
              <a:rPr lang="en-GB" sz="2800" b="1" dirty="0">
                <a:solidFill>
                  <a:schemeClr val="bg1"/>
                </a:solidFill>
              </a:rPr>
              <a:t>Proposal: </a:t>
            </a:r>
            <a:r>
              <a:rPr lang="en-GB" sz="2800" dirty="0">
                <a:solidFill>
                  <a:schemeClr val="bg1"/>
                </a:solidFill>
              </a:rPr>
              <a:t>Options such as pulse-elevator can permit drilling outside the traditional </a:t>
            </a:r>
            <a:r>
              <a:rPr lang="en-GB" sz="2800" dirty="0" err="1">
                <a:solidFill>
                  <a:schemeClr val="bg1"/>
                </a:solidFill>
              </a:rPr>
              <a:t>augering</a:t>
            </a:r>
            <a:r>
              <a:rPr lang="en-GB" sz="2800" dirty="0">
                <a:solidFill>
                  <a:schemeClr val="bg1"/>
                </a:solidFill>
              </a:rPr>
              <a:t> approach. This concept is already on the UK technology roadmap. It works…</a:t>
            </a:r>
            <a:br>
              <a:rPr lang="en-GB" sz="2800" dirty="0">
                <a:solidFill>
                  <a:schemeClr val="bg1"/>
                </a:solidFill>
              </a:rPr>
            </a:br>
            <a:br>
              <a:rPr lang="en-GB" sz="2800" dirty="0">
                <a:solidFill>
                  <a:schemeClr val="bg1"/>
                </a:solidFill>
              </a:rPr>
            </a:br>
            <a:r>
              <a:rPr lang="en-GB" sz="2800" b="1" dirty="0">
                <a:solidFill>
                  <a:schemeClr val="bg1"/>
                </a:solidFill>
              </a:rPr>
              <a:t>Work to do: </a:t>
            </a:r>
            <a:r>
              <a:rPr lang="en-GB" sz="2800" dirty="0">
                <a:solidFill>
                  <a:schemeClr val="bg1"/>
                </a:solidFill>
              </a:rPr>
              <a:t>We still need to manage the vibration loads, but at least it’s a dynamics problem, not a statics one…</a:t>
            </a:r>
            <a:br>
              <a:rPr lang="en-GB" sz="2800" dirty="0">
                <a:solidFill>
                  <a:schemeClr val="bg1"/>
                </a:solidFill>
              </a:rPr>
            </a:br>
            <a:endParaRPr lang="en-GB" sz="2800" dirty="0">
              <a:solidFill>
                <a:schemeClr val="bg1"/>
              </a:solidFill>
            </a:endParaRPr>
          </a:p>
        </p:txBody>
      </p:sp>
      <p:pic>
        <p:nvPicPr>
          <p:cNvPr id="5" name="pulseelevator">
            <a:hlinkClick r:id="" action="ppaction://media"/>
            <a:extLst>
              <a:ext uri="{FF2B5EF4-FFF2-40B4-BE49-F238E27FC236}">
                <a16:creationId xmlns:a16="http://schemas.microsoft.com/office/drawing/2014/main" id="{13C1EE47-C5FC-05AE-0EEA-AD00183258C7}"/>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6953250" y="8259"/>
            <a:ext cx="5238750" cy="6858000"/>
          </a:xfrm>
          <a:prstGeom prst="rect">
            <a:avLst/>
          </a:prstGeom>
        </p:spPr>
      </p:pic>
    </p:spTree>
    <p:extLst>
      <p:ext uri="{BB962C8B-B14F-4D97-AF65-F5344CB8AC3E}">
        <p14:creationId xmlns:p14="http://schemas.microsoft.com/office/powerpoint/2010/main" val="3706882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43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0BCAB-BB0D-0D68-17C2-49771C2A41B1}"/>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3FDFC3AF-C613-7CB1-D0BC-CD95DBBD7AEB}"/>
              </a:ext>
            </a:extLst>
          </p:cNvPr>
          <p:cNvPicPr>
            <a:picLocks noChangeAspect="1"/>
          </p:cNvPicPr>
          <p:nvPr/>
        </p:nvPicPr>
        <p:blipFill>
          <a:blip r:embed="rId3"/>
          <a:stretch>
            <a:fillRect/>
          </a:stretch>
        </p:blipFill>
        <p:spPr>
          <a:xfrm>
            <a:off x="6994959" y="0"/>
            <a:ext cx="5197041" cy="6858000"/>
          </a:xfrm>
          <a:prstGeom prst="rect">
            <a:avLst/>
          </a:prstGeom>
        </p:spPr>
      </p:pic>
      <p:sp>
        <p:nvSpPr>
          <p:cNvPr id="12" name="Title 1">
            <a:extLst>
              <a:ext uri="{FF2B5EF4-FFF2-40B4-BE49-F238E27FC236}">
                <a16:creationId xmlns:a16="http://schemas.microsoft.com/office/drawing/2014/main" id="{37833343-925B-6AD5-8353-13D9934696EC}"/>
              </a:ext>
            </a:extLst>
          </p:cNvPr>
          <p:cNvSpPr txBox="1">
            <a:spLocks/>
          </p:cNvSpPr>
          <p:nvPr/>
        </p:nvSpPr>
        <p:spPr>
          <a:xfrm>
            <a:off x="1" y="-8259"/>
            <a:ext cx="6994958" cy="6866259"/>
          </a:xfrm>
          <a:prstGeom prst="rect">
            <a:avLst/>
          </a:prstGeom>
          <a:solidFill>
            <a:srgbClr val="000000"/>
          </a:solid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br>
              <a:rPr lang="en-GB" sz="2800" dirty="0">
                <a:solidFill>
                  <a:schemeClr val="bg1"/>
                </a:solidFill>
              </a:rPr>
            </a:br>
            <a:endParaRPr lang="en-GB" sz="2800" dirty="0">
              <a:solidFill>
                <a:schemeClr val="bg1"/>
              </a:solidFill>
            </a:endParaRPr>
          </a:p>
        </p:txBody>
      </p:sp>
      <p:sp>
        <p:nvSpPr>
          <p:cNvPr id="2" name="Title 1">
            <a:extLst>
              <a:ext uri="{FF2B5EF4-FFF2-40B4-BE49-F238E27FC236}">
                <a16:creationId xmlns:a16="http://schemas.microsoft.com/office/drawing/2014/main" id="{D7B01ED6-BB87-B95E-4A8A-B6C7B84F89A8}"/>
              </a:ext>
            </a:extLst>
          </p:cNvPr>
          <p:cNvSpPr>
            <a:spLocks noGrp="1"/>
          </p:cNvSpPr>
          <p:nvPr>
            <p:ph type="ctrTitle"/>
          </p:nvPr>
        </p:nvSpPr>
        <p:spPr>
          <a:xfrm>
            <a:off x="0" y="3772"/>
            <a:ext cx="8939463" cy="6866259"/>
          </a:xfrm>
          <a:noFill/>
        </p:spPr>
        <p:txBody>
          <a:bodyPr/>
          <a:lstStyle/>
          <a:p>
            <a:pPr algn="l"/>
            <a:r>
              <a:rPr lang="en-GB" b="1" dirty="0">
                <a:solidFill>
                  <a:schemeClr val="bg1"/>
                </a:solidFill>
              </a:rPr>
              <a:t>The vision </a:t>
            </a:r>
            <a:br>
              <a:rPr lang="en-GB" sz="2800" dirty="0">
                <a:solidFill>
                  <a:schemeClr val="bg1"/>
                </a:solidFill>
              </a:rPr>
            </a:br>
            <a:br>
              <a:rPr lang="en-GB" sz="2800" dirty="0">
                <a:solidFill>
                  <a:schemeClr val="bg1"/>
                </a:solidFill>
              </a:rPr>
            </a:br>
            <a:br>
              <a:rPr lang="en-GB" sz="2800" dirty="0">
                <a:solidFill>
                  <a:schemeClr val="bg1"/>
                </a:solidFill>
              </a:rPr>
            </a:br>
            <a:r>
              <a:rPr lang="en-GB" sz="2800" b="1" dirty="0">
                <a:solidFill>
                  <a:schemeClr val="bg1"/>
                </a:solidFill>
              </a:rPr>
              <a:t>Science goal: </a:t>
            </a:r>
            <a:r>
              <a:rPr lang="en-GB" sz="2800" dirty="0">
                <a:solidFill>
                  <a:schemeClr val="bg1"/>
                </a:solidFill>
              </a:rPr>
              <a:t>A short window of time still remains in which transformation could be delivered by a small rover. </a:t>
            </a:r>
            <a:br>
              <a:rPr lang="en-GB" sz="2800" dirty="0">
                <a:solidFill>
                  <a:schemeClr val="bg1"/>
                </a:solidFill>
              </a:rPr>
            </a:br>
            <a:br>
              <a:rPr lang="en-GB" sz="2800" dirty="0">
                <a:solidFill>
                  <a:schemeClr val="bg1"/>
                </a:solidFill>
              </a:rPr>
            </a:br>
            <a:r>
              <a:rPr lang="en-GB" sz="2800" b="1" dirty="0">
                <a:solidFill>
                  <a:schemeClr val="bg1"/>
                </a:solidFill>
              </a:rPr>
              <a:t>Global impact: </a:t>
            </a:r>
            <a:r>
              <a:rPr lang="en-GB" sz="2800" dirty="0">
                <a:solidFill>
                  <a:schemeClr val="bg1"/>
                </a:solidFill>
              </a:rPr>
              <a:t>We will set the Antarctic example to </a:t>
            </a:r>
            <a:br>
              <a:rPr lang="en-GB" sz="2800" dirty="0">
                <a:solidFill>
                  <a:schemeClr val="bg1"/>
                </a:solidFill>
              </a:rPr>
            </a:br>
            <a:r>
              <a:rPr lang="en-GB" sz="2800" dirty="0">
                <a:solidFill>
                  <a:schemeClr val="bg1"/>
                </a:solidFill>
              </a:rPr>
              <a:t>promote a new global commons at the Moon. </a:t>
            </a:r>
            <a:br>
              <a:rPr lang="en-GB" sz="2800" dirty="0">
                <a:solidFill>
                  <a:schemeClr val="bg1"/>
                </a:solidFill>
              </a:rPr>
            </a:br>
            <a:r>
              <a:rPr lang="en-GB" sz="2800" dirty="0">
                <a:solidFill>
                  <a:schemeClr val="bg1"/>
                </a:solidFill>
              </a:rPr>
              <a:t>We will even fly a piece of the  </a:t>
            </a:r>
            <a:r>
              <a:rPr lang="en-GB" sz="2800" i="1" dirty="0">
                <a:solidFill>
                  <a:schemeClr val="bg1"/>
                </a:solidFill>
              </a:rPr>
              <a:t>RRS  Discovery</a:t>
            </a:r>
            <a:r>
              <a:rPr lang="en-GB" sz="2800" dirty="0">
                <a:solidFill>
                  <a:schemeClr val="bg1"/>
                </a:solidFill>
              </a:rPr>
              <a:t>.</a:t>
            </a:r>
            <a:br>
              <a:rPr lang="en-GB" sz="2800" dirty="0">
                <a:solidFill>
                  <a:schemeClr val="bg1"/>
                </a:solidFill>
              </a:rPr>
            </a:br>
            <a:br>
              <a:rPr lang="en-GB" sz="2800" dirty="0">
                <a:solidFill>
                  <a:schemeClr val="bg1"/>
                </a:solidFill>
              </a:rPr>
            </a:br>
            <a:r>
              <a:rPr lang="en-GB" sz="2800" b="1" dirty="0">
                <a:solidFill>
                  <a:schemeClr val="bg1"/>
                </a:solidFill>
              </a:rPr>
              <a:t>National focus:</a:t>
            </a:r>
            <a:r>
              <a:rPr lang="en-GB" sz="2800" dirty="0">
                <a:solidFill>
                  <a:schemeClr val="bg1"/>
                </a:solidFill>
              </a:rPr>
              <a:t> We will echo an unsurpassed story </a:t>
            </a:r>
            <a:br>
              <a:rPr lang="en-GB" sz="2800" dirty="0">
                <a:solidFill>
                  <a:schemeClr val="bg1"/>
                </a:solidFill>
              </a:rPr>
            </a:br>
            <a:r>
              <a:rPr lang="en-GB" sz="2800" dirty="0">
                <a:solidFill>
                  <a:schemeClr val="bg1"/>
                </a:solidFill>
              </a:rPr>
              <a:t>of moral optimism to set a renewed example: ambition, discovery, and responsible exploration at the next </a:t>
            </a:r>
            <a:br>
              <a:rPr lang="en-GB" sz="2800" dirty="0">
                <a:solidFill>
                  <a:schemeClr val="bg1"/>
                </a:solidFill>
              </a:rPr>
            </a:br>
            <a:r>
              <a:rPr lang="en-GB" sz="2800" dirty="0">
                <a:solidFill>
                  <a:schemeClr val="bg1"/>
                </a:solidFill>
              </a:rPr>
              <a:t>polar frontier. A clear and historic goal will </a:t>
            </a:r>
            <a:br>
              <a:rPr lang="en-GB" sz="2800" dirty="0">
                <a:solidFill>
                  <a:schemeClr val="bg1"/>
                </a:solidFill>
              </a:rPr>
            </a:br>
            <a:r>
              <a:rPr lang="en-GB" sz="2800" dirty="0">
                <a:solidFill>
                  <a:schemeClr val="bg1"/>
                </a:solidFill>
              </a:rPr>
              <a:t>inspire ambition, vision, and STEM.</a:t>
            </a:r>
            <a:br>
              <a:rPr lang="en-GB" sz="2800" dirty="0">
                <a:solidFill>
                  <a:schemeClr val="bg1"/>
                </a:solidFill>
              </a:rPr>
            </a:br>
            <a:endParaRPr lang="en-GB" sz="2800" dirty="0">
              <a:solidFill>
                <a:schemeClr val="bg1"/>
              </a:solidFill>
            </a:endParaRPr>
          </a:p>
        </p:txBody>
      </p:sp>
    </p:spTree>
    <p:extLst>
      <p:ext uri="{BB962C8B-B14F-4D97-AF65-F5344CB8AC3E}">
        <p14:creationId xmlns:p14="http://schemas.microsoft.com/office/powerpoint/2010/main" val="36027273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A991B-1FBB-1B89-C60B-F42C56DF9B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6192CE-8D61-E289-14DA-BAE744E05694}"/>
              </a:ext>
            </a:extLst>
          </p:cNvPr>
          <p:cNvSpPr>
            <a:spLocks noGrp="1"/>
          </p:cNvSpPr>
          <p:nvPr>
            <p:ph type="ctrTitle"/>
          </p:nvPr>
        </p:nvSpPr>
        <p:spPr>
          <a:xfrm>
            <a:off x="1" y="-8259"/>
            <a:ext cx="6785808" cy="6866259"/>
          </a:xfrm>
          <a:solidFill>
            <a:srgbClr val="000000"/>
          </a:solidFill>
        </p:spPr>
        <p:txBody>
          <a:bodyPr/>
          <a:lstStyle/>
          <a:p>
            <a:pPr algn="l"/>
            <a:r>
              <a:rPr lang="en-GB" b="1" dirty="0">
                <a:solidFill>
                  <a:schemeClr val="bg1"/>
                </a:solidFill>
              </a:rPr>
              <a:t>The way forwards</a:t>
            </a:r>
            <a:br>
              <a:rPr lang="en-GB" sz="2800" dirty="0">
                <a:solidFill>
                  <a:schemeClr val="bg1"/>
                </a:solidFill>
              </a:rPr>
            </a:br>
            <a:br>
              <a:rPr lang="en-GB" sz="2800" dirty="0">
                <a:solidFill>
                  <a:schemeClr val="bg1"/>
                </a:solidFill>
              </a:rPr>
            </a:br>
            <a:br>
              <a:rPr lang="en-GB" sz="2800" dirty="0">
                <a:solidFill>
                  <a:schemeClr val="bg1"/>
                </a:solidFill>
              </a:rPr>
            </a:br>
            <a:r>
              <a:rPr lang="en-GB" sz="2800" b="1" dirty="0">
                <a:solidFill>
                  <a:schemeClr val="bg1"/>
                </a:solidFill>
              </a:rPr>
              <a:t>The price: </a:t>
            </a:r>
            <a:r>
              <a:rPr lang="en-GB" sz="2800" dirty="0">
                <a:solidFill>
                  <a:schemeClr val="bg1"/>
                </a:solidFill>
              </a:rPr>
              <a:t>Around £25m. </a:t>
            </a:r>
            <a:br>
              <a:rPr lang="en-GB" sz="2800" dirty="0">
                <a:solidFill>
                  <a:schemeClr val="bg1"/>
                </a:solidFill>
              </a:rPr>
            </a:br>
            <a:br>
              <a:rPr lang="en-GB" sz="2800" dirty="0">
                <a:solidFill>
                  <a:schemeClr val="bg1"/>
                </a:solidFill>
              </a:rPr>
            </a:br>
            <a:r>
              <a:rPr lang="en-GB" sz="2800" b="1" dirty="0">
                <a:solidFill>
                  <a:schemeClr val="bg1"/>
                </a:solidFill>
              </a:rPr>
              <a:t>The plan: </a:t>
            </a:r>
            <a:r>
              <a:rPr lang="en-GB" sz="2800" dirty="0">
                <a:solidFill>
                  <a:schemeClr val="bg1"/>
                </a:solidFill>
              </a:rPr>
              <a:t>We have a White Paper in </a:t>
            </a:r>
            <a:r>
              <a:rPr lang="en-GB" sz="2800" i="1" dirty="0">
                <a:solidFill>
                  <a:schemeClr val="bg1"/>
                </a:solidFill>
              </a:rPr>
              <a:t>Frontiers 2035</a:t>
            </a:r>
            <a:r>
              <a:rPr lang="en-GB" sz="2800" dirty="0">
                <a:solidFill>
                  <a:schemeClr val="bg1"/>
                </a:solidFill>
              </a:rPr>
              <a:t>, but – as speed is crucial – we are also seeking around £20m in private finance.</a:t>
            </a:r>
            <a:br>
              <a:rPr lang="en-GB" sz="2800" dirty="0">
                <a:solidFill>
                  <a:schemeClr val="bg1"/>
                </a:solidFill>
              </a:rPr>
            </a:br>
            <a:br>
              <a:rPr lang="en-GB" sz="2800" dirty="0">
                <a:solidFill>
                  <a:schemeClr val="bg1"/>
                </a:solidFill>
              </a:rPr>
            </a:br>
            <a:r>
              <a:rPr lang="en-GB" sz="2800" b="1" dirty="0">
                <a:solidFill>
                  <a:schemeClr val="bg1"/>
                </a:solidFill>
              </a:rPr>
              <a:t>What is the likelihood of success: </a:t>
            </a:r>
            <a:r>
              <a:rPr lang="en-GB" sz="2800" dirty="0">
                <a:solidFill>
                  <a:schemeClr val="bg1"/>
                </a:solidFill>
              </a:rPr>
              <a:t>We do not know, unless we try. However, peer nations have shown that this is possible. </a:t>
            </a:r>
            <a:br>
              <a:rPr lang="en-GB" sz="2800" dirty="0">
                <a:solidFill>
                  <a:schemeClr val="bg1"/>
                </a:solidFill>
              </a:rPr>
            </a:br>
            <a:br>
              <a:rPr lang="en-GB" sz="2800" dirty="0">
                <a:solidFill>
                  <a:schemeClr val="bg1"/>
                </a:solidFill>
              </a:rPr>
            </a:br>
            <a:r>
              <a:rPr lang="en-GB" sz="2800" dirty="0">
                <a:solidFill>
                  <a:schemeClr val="bg1"/>
                </a:solidFill>
              </a:rPr>
              <a:t>We know what Sir Ernest would do…</a:t>
            </a:r>
            <a:br>
              <a:rPr lang="en-GB" sz="2800" dirty="0">
                <a:solidFill>
                  <a:schemeClr val="bg1"/>
                </a:solidFill>
              </a:rPr>
            </a:br>
            <a:br>
              <a:rPr lang="en-GB" sz="2800" dirty="0">
                <a:solidFill>
                  <a:schemeClr val="bg1"/>
                </a:solidFill>
              </a:rPr>
            </a:br>
            <a:endParaRPr lang="en-GB" sz="2800" dirty="0">
              <a:solidFill>
                <a:schemeClr val="bg1"/>
              </a:solidFill>
            </a:endParaRPr>
          </a:p>
        </p:txBody>
      </p:sp>
      <p:pic>
        <p:nvPicPr>
          <p:cNvPr id="4" name="Picture 2">
            <a:extLst>
              <a:ext uri="{FF2B5EF4-FFF2-40B4-BE49-F238E27FC236}">
                <a16:creationId xmlns:a16="http://schemas.microsoft.com/office/drawing/2014/main" id="{1503F23A-A705-F03A-DF8A-27287CE6B52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7500" r="23377"/>
          <a:stretch>
            <a:fillRect/>
          </a:stretch>
        </p:blipFill>
        <p:spPr bwMode="auto">
          <a:xfrm>
            <a:off x="6785811" y="-8259"/>
            <a:ext cx="5406189"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044A6061-4254-C849-1D49-02E2103DFDB6}"/>
              </a:ext>
            </a:extLst>
          </p:cNvPr>
          <p:cNvSpPr/>
          <p:nvPr/>
        </p:nvSpPr>
        <p:spPr>
          <a:xfrm rot="16200000">
            <a:off x="4814518" y="1954775"/>
            <a:ext cx="6866257" cy="2923672"/>
          </a:xfrm>
          <a:prstGeom prst="rect">
            <a:avLst/>
          </a:prstGeom>
          <a:gradFill>
            <a:gsLst>
              <a:gs pos="0">
                <a:srgbClr val="000000"/>
              </a:gs>
              <a:gs pos="0">
                <a:srgbClr val="000000"/>
              </a:gs>
              <a:gs pos="10000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2399802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1096B-65FE-E33B-23FA-CE8DCB7DDF60}"/>
            </a:ext>
          </a:extLst>
        </p:cNvPr>
        <p:cNvGrpSpPr/>
        <p:nvPr/>
      </p:nvGrpSpPr>
      <p:grpSpPr>
        <a:xfrm>
          <a:off x="0" y="0"/>
          <a:ext cx="0" cy="0"/>
          <a:chOff x="0" y="0"/>
          <a:chExt cx="0" cy="0"/>
        </a:xfrm>
      </p:grpSpPr>
      <p:pic>
        <p:nvPicPr>
          <p:cNvPr id="8194" name="Picture 2" descr="Alexandra Shackleton">
            <a:extLst>
              <a:ext uri="{FF2B5EF4-FFF2-40B4-BE49-F238E27FC236}">
                <a16:creationId xmlns:a16="http://schemas.microsoft.com/office/drawing/2014/main" id="{4FE2193A-E562-6F67-64B7-BED0353061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6284" y="0"/>
            <a:ext cx="5225715" cy="6863439"/>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65C18341-0EB9-1085-40D6-DB79D72B1A8A}"/>
              </a:ext>
            </a:extLst>
          </p:cNvPr>
          <p:cNvSpPr/>
          <p:nvPr/>
        </p:nvSpPr>
        <p:spPr>
          <a:xfrm rot="16200000">
            <a:off x="5632666" y="1136624"/>
            <a:ext cx="6866257" cy="4559969"/>
          </a:xfrm>
          <a:prstGeom prst="rect">
            <a:avLst/>
          </a:prstGeom>
          <a:gradFill>
            <a:gsLst>
              <a:gs pos="0">
                <a:srgbClr val="000000"/>
              </a:gs>
              <a:gs pos="13000">
                <a:srgbClr val="000000"/>
              </a:gs>
              <a:gs pos="4400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7742ABD4-7260-6C34-BCF7-ED5F37D78C66}"/>
              </a:ext>
            </a:extLst>
          </p:cNvPr>
          <p:cNvSpPr>
            <a:spLocks noGrp="1"/>
          </p:cNvSpPr>
          <p:nvPr>
            <p:ph type="ctrTitle"/>
          </p:nvPr>
        </p:nvSpPr>
        <p:spPr>
          <a:xfrm>
            <a:off x="1" y="-8259"/>
            <a:ext cx="6785810" cy="6866259"/>
          </a:xfrm>
          <a:solidFill>
            <a:srgbClr val="000000"/>
          </a:solidFill>
        </p:spPr>
        <p:txBody>
          <a:bodyPr/>
          <a:lstStyle/>
          <a:p>
            <a:pPr algn="l"/>
            <a:r>
              <a:rPr lang="en-GB" b="1" dirty="0">
                <a:solidFill>
                  <a:schemeClr val="bg1"/>
                </a:solidFill>
              </a:rPr>
              <a:t>Our mission patron</a:t>
            </a:r>
            <a:br>
              <a:rPr lang="en-GB" sz="2800" dirty="0">
                <a:solidFill>
                  <a:schemeClr val="bg1"/>
                </a:solidFill>
              </a:rPr>
            </a:br>
            <a:br>
              <a:rPr lang="en-GB" sz="2800" dirty="0">
                <a:solidFill>
                  <a:schemeClr val="bg1"/>
                </a:solidFill>
              </a:rPr>
            </a:br>
            <a:r>
              <a:rPr lang="en-GB" sz="2800" b="1" dirty="0">
                <a:solidFill>
                  <a:schemeClr val="bg1"/>
                </a:solidFill>
              </a:rPr>
              <a:t>The Honourable Alexandra Shackleton: </a:t>
            </a:r>
            <a:br>
              <a:rPr lang="en-GB" sz="2800" b="1" dirty="0">
                <a:solidFill>
                  <a:schemeClr val="bg1"/>
                </a:solidFill>
              </a:rPr>
            </a:br>
            <a:br>
              <a:rPr lang="en-GB" sz="2800" b="1" dirty="0">
                <a:solidFill>
                  <a:schemeClr val="bg1"/>
                </a:solidFill>
              </a:rPr>
            </a:br>
            <a:br>
              <a:rPr lang="en-GB" sz="2800" b="1" dirty="0">
                <a:solidFill>
                  <a:schemeClr val="bg1"/>
                </a:solidFill>
              </a:rPr>
            </a:br>
            <a:br>
              <a:rPr lang="en-GB" sz="2800" b="1" dirty="0">
                <a:solidFill>
                  <a:schemeClr val="bg1"/>
                </a:solidFill>
              </a:rPr>
            </a:br>
            <a:br>
              <a:rPr lang="en-GB" sz="2800" b="1" dirty="0">
                <a:solidFill>
                  <a:schemeClr val="bg1"/>
                </a:solidFill>
              </a:rPr>
            </a:br>
            <a:r>
              <a:rPr lang="en-GB" sz="2800" b="1" i="1" dirty="0">
                <a:solidFill>
                  <a:schemeClr val="bg1"/>
                </a:solidFill>
              </a:rPr>
              <a:t>“</a:t>
            </a:r>
            <a:r>
              <a:rPr lang="en-GB" sz="2800" i="1" dirty="0">
                <a:solidFill>
                  <a:schemeClr val="bg1"/>
                </a:solidFill>
              </a:rPr>
              <a:t>My grandfather, Sir Ernest Shackleton, listed the qualities required for a polar explorer thus: optimism, patience, imagination, and courage. I believe that he would recognise these qualities as motivating this proposal, and I am therefore delighted to commend it to you.”</a:t>
            </a:r>
            <a:br>
              <a:rPr lang="en-GB" sz="2800" i="1" dirty="0">
                <a:solidFill>
                  <a:schemeClr val="bg1"/>
                </a:solidFill>
              </a:rPr>
            </a:br>
            <a:br>
              <a:rPr lang="en-GB" sz="2800" dirty="0">
                <a:solidFill>
                  <a:schemeClr val="bg1"/>
                </a:solidFill>
              </a:rPr>
            </a:br>
            <a:br>
              <a:rPr lang="en-GB" sz="2800" dirty="0">
                <a:solidFill>
                  <a:schemeClr val="bg1"/>
                </a:solidFill>
              </a:rPr>
            </a:br>
            <a:endParaRPr lang="en-GB" sz="2800" dirty="0">
              <a:solidFill>
                <a:schemeClr val="bg1"/>
              </a:solidFill>
            </a:endParaRPr>
          </a:p>
        </p:txBody>
      </p:sp>
    </p:spTree>
    <p:extLst>
      <p:ext uri="{BB962C8B-B14F-4D97-AF65-F5344CB8AC3E}">
        <p14:creationId xmlns:p14="http://schemas.microsoft.com/office/powerpoint/2010/main" val="38972715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8C142-0F4C-8ED0-67EF-8A2F910907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B888A6-7B45-64B5-6015-20CA10A80581}"/>
              </a:ext>
            </a:extLst>
          </p:cNvPr>
          <p:cNvSpPr>
            <a:spLocks noGrp="1"/>
          </p:cNvSpPr>
          <p:nvPr>
            <p:ph type="ctrTitle"/>
          </p:nvPr>
        </p:nvSpPr>
        <p:spPr>
          <a:xfrm>
            <a:off x="0" y="-8259"/>
            <a:ext cx="12191999" cy="6866259"/>
          </a:xfrm>
          <a:solidFill>
            <a:srgbClr val="000000"/>
          </a:solidFill>
        </p:spPr>
        <p:txBody>
          <a:bodyPr/>
          <a:lstStyle/>
          <a:p>
            <a:pPr algn="l"/>
            <a:r>
              <a:rPr lang="en-GB" b="1" dirty="0">
                <a:solidFill>
                  <a:schemeClr val="bg1"/>
                </a:solidFill>
              </a:rPr>
              <a:t>How you can help -</a:t>
            </a:r>
            <a:br>
              <a:rPr lang="en-GB" sz="2800" dirty="0">
                <a:solidFill>
                  <a:schemeClr val="bg1"/>
                </a:solidFill>
              </a:rPr>
            </a:br>
            <a:br>
              <a:rPr lang="en-GB" sz="2800" dirty="0">
                <a:solidFill>
                  <a:schemeClr val="bg1"/>
                </a:solidFill>
              </a:rPr>
            </a:br>
            <a:br>
              <a:rPr lang="en-GB" sz="2800" dirty="0">
                <a:solidFill>
                  <a:schemeClr val="bg1"/>
                </a:solidFill>
              </a:rPr>
            </a:br>
            <a:br>
              <a:rPr lang="en-GB" sz="2800" dirty="0">
                <a:solidFill>
                  <a:schemeClr val="bg1"/>
                </a:solidFill>
              </a:rPr>
            </a:br>
            <a:br>
              <a:rPr lang="en-GB" sz="2800" dirty="0">
                <a:solidFill>
                  <a:schemeClr val="bg1"/>
                </a:solidFill>
              </a:rPr>
            </a:br>
            <a:br>
              <a:rPr lang="en-GB" sz="2800" b="1" dirty="0">
                <a:solidFill>
                  <a:schemeClr val="bg1"/>
                </a:solidFill>
              </a:rPr>
            </a:br>
            <a:r>
              <a:rPr lang="en-GB" sz="2800" b="1" dirty="0">
                <a:solidFill>
                  <a:schemeClr val="bg1"/>
                </a:solidFill>
              </a:rPr>
              <a:t>To learn more, please visit shackletonrover.co.uk and download the papers. </a:t>
            </a:r>
            <a:br>
              <a:rPr lang="en-GB" sz="2800" b="1" dirty="0">
                <a:solidFill>
                  <a:schemeClr val="bg1"/>
                </a:solidFill>
              </a:rPr>
            </a:br>
            <a:br>
              <a:rPr lang="en-GB" sz="2800" b="1" dirty="0">
                <a:solidFill>
                  <a:schemeClr val="bg1"/>
                </a:solidFill>
              </a:rPr>
            </a:br>
            <a:r>
              <a:rPr lang="en-GB" sz="2800" b="1" dirty="0">
                <a:solidFill>
                  <a:schemeClr val="bg1"/>
                </a:solidFill>
              </a:rPr>
              <a:t>To sign up, please contact me at patrick.harkness@glasgow.ac.uk.</a:t>
            </a:r>
            <a:br>
              <a:rPr lang="en-GB" sz="2800" b="1" dirty="0">
                <a:solidFill>
                  <a:schemeClr val="bg1"/>
                </a:solidFill>
              </a:rPr>
            </a:br>
            <a:br>
              <a:rPr lang="en-GB" sz="2800" b="1" dirty="0">
                <a:solidFill>
                  <a:schemeClr val="bg1"/>
                </a:solidFill>
              </a:rPr>
            </a:br>
            <a:r>
              <a:rPr lang="en-GB" sz="2800" b="1" dirty="0">
                <a:solidFill>
                  <a:schemeClr val="bg1"/>
                </a:solidFill>
              </a:rPr>
              <a:t>To promote, please use your initiative!</a:t>
            </a:r>
            <a:br>
              <a:rPr lang="en-GB" sz="2800" b="1" dirty="0">
                <a:solidFill>
                  <a:schemeClr val="bg1"/>
                </a:solidFill>
              </a:rPr>
            </a:br>
            <a:br>
              <a:rPr lang="en-GB" sz="2800" b="1" dirty="0">
                <a:solidFill>
                  <a:schemeClr val="bg1"/>
                </a:solidFill>
              </a:rPr>
            </a:br>
            <a:br>
              <a:rPr lang="en-GB" sz="2800" b="1" dirty="0">
                <a:solidFill>
                  <a:schemeClr val="bg1"/>
                </a:solidFill>
              </a:rPr>
            </a:br>
            <a:br>
              <a:rPr lang="en-GB" sz="2800" dirty="0">
                <a:solidFill>
                  <a:schemeClr val="bg1"/>
                </a:solidFill>
              </a:rPr>
            </a:br>
            <a:br>
              <a:rPr lang="en-GB" sz="2800" dirty="0">
                <a:solidFill>
                  <a:schemeClr val="bg1"/>
                </a:solidFill>
              </a:rPr>
            </a:br>
            <a:endParaRPr lang="en-GB" sz="2800" dirty="0">
              <a:solidFill>
                <a:schemeClr val="bg1"/>
              </a:solidFill>
            </a:endParaRPr>
          </a:p>
        </p:txBody>
      </p:sp>
    </p:spTree>
    <p:extLst>
      <p:ext uri="{BB962C8B-B14F-4D97-AF65-F5344CB8AC3E}">
        <p14:creationId xmlns:p14="http://schemas.microsoft.com/office/powerpoint/2010/main" val="21612343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679</TotalTime>
  <Words>773</Words>
  <Application>Microsoft Office PowerPoint</Application>
  <PresentationFormat>Widescreen</PresentationFormat>
  <Paragraphs>21</Paragraphs>
  <Slides>10</Slides>
  <Notes>10</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PowerPoint Presentation</vt:lpstr>
      <vt:lpstr>Background  The story of Sir Ernest Shackleton    &gt; Led 1914 Endurance expedition to Antarctica &gt; Ship became trapped in ice, then sank &gt; 28 men walked 500 miles, dragging lifeboats &gt; Reached edge of ice, got into lifeboats, rowed &gt; Another 100 miles in lifeboats to barren island &gt; 10 days later, 6 men begin 800-mile voyage &gt; Landed, crossed South Georgia, sent telegraph &gt; Organised rescue operation &gt; Saved every single man </vt:lpstr>
      <vt:lpstr>A lunar adventure  Patrick Harkness Professor of Exploration Technology University of Glasgow      The Shackleton project is a proposal for a CLPS rover to the lunar south pole.  A full list of supporters may be found at shackletonrover.co.uk &gt; personnel </vt:lpstr>
      <vt:lpstr>The expedition   Why Moon? The UK does many things. A surface mission will unite capability around a clear exploration goal and secure a role in the emerging lunar economy.  What economy? Lunar resources, especially water ice, will be vital to a sustainable space economy. However, there is still no ground truth. We can provide it, for all.  Which partners? We intend to work with Intuitive Machines, and to develop partnerships with potential operations teams in Canada and Australia.  </vt:lpstr>
      <vt:lpstr>The rover   Architecture: We are currently proposing a 20kg rover with  skid-steering and S-band comms via the CLPS lander.   Duration: Nominally 14 days, using solar power,  with batteries for 1h dark sorties. However,  radioisotope heaters may permit survival.  Payload: A penetrator payload with  heaters to evolve gases and an  associated mass spectrometer.  Regolith thermo-mechanical  properties to be measured. </vt:lpstr>
      <vt:lpstr>The payload   Problem: Weight and torque are extremely constrained. Most drilling rovers are at least an order-of-magnitude more massive.  Proposal: Options such as pulse-elevator can permit drilling outside the traditional augering approach. This concept is already on the UK technology roadmap. It works…  Work to do: We still need to manage the vibration loads, but at least it’s a dynamics problem, not a statics one… </vt:lpstr>
      <vt:lpstr>The vision    Science goal: A short window of time still remains in which transformation could be delivered by a small rover.   Global impact: We will set the Antarctic example to  promote a new global commons at the Moon.  We will even fly a piece of the  RRS  Discovery.  National focus: We will echo an unsurpassed story  of moral optimism to set a renewed example: ambition, discovery, and responsible exploration at the next  polar frontier. A clear and historic goal will  inspire ambition, vision, and STEM. </vt:lpstr>
      <vt:lpstr>The way forwards   The price: Around £25m.   The plan: We have a White Paper in Frontiers 2035, but – as speed is crucial – we are also seeking around £20m in private finance.  What is the likelihood of success: We do not know, unless we try. However, peer nations have shown that this is possible.   We know what Sir Ernest would do…  </vt:lpstr>
      <vt:lpstr>Our mission patron  The Honourable Alexandra Shackleton:      “My grandfather, Sir Ernest Shackleton, listed the qualities required for a polar explorer thus: optimism, patience, imagination, and courage. I believe that he would recognise these qualities as motivating this proposal, and I am therefore delighted to commend it to you.”   </vt:lpstr>
      <vt:lpstr>How you can help -      To learn more, please visit shackletonrover.co.uk and download the papers.   To sign up, please contact me at patrick.harkness@glasgow.ac.uk.  To promote, please use your initiative!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Patrick Harkness</dc:creator>
  <cp:lastModifiedBy>Patrick Harkness</cp:lastModifiedBy>
  <cp:revision>10</cp:revision>
  <cp:lastPrinted>2026-06-09T16:39:43Z</cp:lastPrinted>
  <dcterms:created xsi:type="dcterms:W3CDTF">2026-06-01T11:05:55Z</dcterms:created>
  <dcterms:modified xsi:type="dcterms:W3CDTF">2026-06-10T20:27:06Z</dcterms:modified>
</cp:coreProperties>
</file>